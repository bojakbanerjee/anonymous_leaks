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7"/>
  </p:notesMasterIdLst>
  <p:handoutMasterIdLst>
    <p:handoutMasterId r:id="rId18"/>
  </p:handoutMasterIdLst>
  <p:sldIdLst>
    <p:sldId id="834" r:id="rId2"/>
    <p:sldId id="880" r:id="rId3"/>
    <p:sldId id="884" r:id="rId4"/>
    <p:sldId id="886" r:id="rId5"/>
    <p:sldId id="865" r:id="rId6"/>
    <p:sldId id="883" r:id="rId7"/>
    <p:sldId id="866" r:id="rId8"/>
    <p:sldId id="862" r:id="rId9"/>
    <p:sldId id="867" r:id="rId10"/>
    <p:sldId id="869" r:id="rId11"/>
    <p:sldId id="870" r:id="rId12"/>
    <p:sldId id="881" r:id="rId13"/>
    <p:sldId id="877" r:id="rId14"/>
    <p:sldId id="878" r:id="rId15"/>
    <p:sldId id="882" r:id="rId16"/>
  </p:sldIdLst>
  <p:sldSz cx="9144000" cy="6858000" type="screen4x3"/>
  <p:notesSz cx="6805613" cy="9939338"/>
  <p:custDataLst>
    <p:tags r:id="rId19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orient="horz" pos="3974" userDrawn="1">
          <p15:clr>
            <a:srgbClr val="A4A3A4"/>
          </p15:clr>
        </p15:guide>
        <p15:guide id="3" orient="horz" pos="2296" userDrawn="1">
          <p15:clr>
            <a:srgbClr val="A4A3A4"/>
          </p15:clr>
        </p15:guide>
        <p15:guide id="4" orient="horz" pos="2387" userDrawn="1">
          <p15:clr>
            <a:srgbClr val="A4A3A4"/>
          </p15:clr>
        </p15:guide>
        <p15:guide id="5" pos="209" userDrawn="1">
          <p15:clr>
            <a:srgbClr val="A4A3A4"/>
          </p15:clr>
        </p15:guide>
        <p15:guide id="6" pos="5107" userDrawn="1">
          <p15:clr>
            <a:srgbClr val="A4A3A4"/>
          </p15:clr>
        </p15:guide>
        <p15:guide id="7" pos="2617" userDrawn="1">
          <p15:clr>
            <a:srgbClr val="A4A3A4"/>
          </p15:clr>
        </p15:guide>
        <p15:guide id="8" pos="2700" userDrawn="1">
          <p15:clr>
            <a:srgbClr val="A4A3A4"/>
          </p15:clr>
        </p15:guide>
        <p15:guide id="9" orient="horz" pos="799" userDrawn="1">
          <p15:clr>
            <a:srgbClr val="A4A3A4"/>
          </p15:clr>
        </p15:guide>
        <p15:guide id="10" orient="horz" pos="2341" userDrawn="1">
          <p15:clr>
            <a:srgbClr val="A4A3A4"/>
          </p15:clr>
        </p15:guide>
        <p15:guide id="11" orient="horz" pos="2432" userDrawn="1">
          <p15:clr>
            <a:srgbClr val="A4A3A4"/>
          </p15:clr>
        </p15:guide>
        <p15:guide id="12" pos="226" userDrawn="1">
          <p15:clr>
            <a:srgbClr val="A4A3A4"/>
          </p15:clr>
        </p15:guide>
        <p15:guide id="13" pos="5533" userDrawn="1">
          <p15:clr>
            <a:srgbClr val="A4A3A4"/>
          </p15:clr>
        </p15:guide>
        <p15:guide id="14" pos="2835" userDrawn="1">
          <p15:clr>
            <a:srgbClr val="A4A3A4"/>
          </p15:clr>
        </p15:guide>
        <p15:guide id="15" pos="29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18" userDrawn="1">
          <p15:clr>
            <a:srgbClr val="A4A3A4"/>
          </p15:clr>
        </p15:guide>
        <p15:guide id="3" orient="horz" pos="3109" userDrawn="1">
          <p15:clr>
            <a:srgbClr val="A4A3A4"/>
          </p15:clr>
        </p15:guide>
        <p15:guide id="4" orient="horz" pos="3129" userDrawn="1">
          <p15:clr>
            <a:srgbClr val="A4A3A4"/>
          </p15:clr>
        </p15:guide>
        <p15:guide id="5" orient="horz" pos="3130" userDrawn="1">
          <p15:clr>
            <a:srgbClr val="A4A3A4"/>
          </p15:clr>
        </p15:guide>
        <p15:guide id="6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vanovaSA" initials="I" lastIdx="5" clrIdx="0">
    <p:extLst/>
  </p:cmAuthor>
  <p:cmAuthor id="2" name="Зубкова Анастасия" initials="А.А.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1B1B1B"/>
    <a:srgbClr val="FFFFFF"/>
    <a:srgbClr val="E7E6E6"/>
    <a:srgbClr val="EDEDEE"/>
    <a:srgbClr val="DCF7AD"/>
    <a:srgbClr val="BCCFE6"/>
    <a:srgbClr val="8586C6"/>
    <a:srgbClr val="262626"/>
    <a:srgbClr val="3E7B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00" autoAdjust="0"/>
    <p:restoredTop sz="99290" autoAdjust="0"/>
  </p:normalViewPr>
  <p:slideViewPr>
    <p:cSldViewPr snapToGrid="0" showGuides="1">
      <p:cViewPr>
        <p:scale>
          <a:sx n="100" d="100"/>
          <a:sy n="100" d="100"/>
        </p:scale>
        <p:origin x="2076" y="450"/>
      </p:cViewPr>
      <p:guideLst>
        <p:guide orient="horz" pos="709"/>
        <p:guide orient="horz" pos="3974"/>
        <p:guide orient="horz" pos="2296"/>
        <p:guide orient="horz" pos="2387"/>
        <p:guide pos="209"/>
        <p:guide pos="5107"/>
        <p:guide pos="2617"/>
        <p:guide pos="2700"/>
        <p:guide orient="horz" pos="799"/>
        <p:guide orient="horz" pos="2341"/>
        <p:guide orient="horz" pos="2432"/>
        <p:guide pos="226"/>
        <p:guide pos="5533"/>
        <p:guide pos="2835"/>
        <p:guide pos="29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928" y="114"/>
      </p:cViewPr>
      <p:guideLst>
        <p:guide orient="horz" pos="3108"/>
        <p:guide pos="2118"/>
        <p:guide orient="horz" pos="3109"/>
        <p:guide orient="horz" pos="3129"/>
        <p:guide orient="horz" pos="3130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8778" cy="496407"/>
          </a:xfrm>
          <a:prstGeom prst="rect">
            <a:avLst/>
          </a:prstGeom>
        </p:spPr>
        <p:txBody>
          <a:bodyPr vert="horz" lIns="92255" tIns="46127" rIns="92255" bIns="46127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5232" y="1"/>
            <a:ext cx="2948778" cy="496407"/>
          </a:xfrm>
          <a:prstGeom prst="rect">
            <a:avLst/>
          </a:prstGeom>
        </p:spPr>
        <p:txBody>
          <a:bodyPr vert="horz" lIns="92255" tIns="46127" rIns="92255" bIns="46127" rtlCol="0"/>
          <a:lstStyle>
            <a:lvl1pPr algn="r">
              <a:defRPr sz="1200"/>
            </a:lvl1pPr>
          </a:lstStyle>
          <a:p>
            <a:fld id="{2D08F910-4940-4911-9D40-B65E8B973488}" type="datetimeFigureOut">
              <a:rPr lang="ru-RU" smtClean="0"/>
              <a:t>22.08.2016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441330"/>
            <a:ext cx="2948778" cy="496407"/>
          </a:xfrm>
          <a:prstGeom prst="rect">
            <a:avLst/>
          </a:prstGeom>
        </p:spPr>
        <p:txBody>
          <a:bodyPr vert="horz" lIns="92255" tIns="46127" rIns="92255" bIns="46127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5232" y="9441330"/>
            <a:ext cx="2948778" cy="496407"/>
          </a:xfrm>
          <a:prstGeom prst="rect">
            <a:avLst/>
          </a:prstGeom>
        </p:spPr>
        <p:txBody>
          <a:bodyPr vert="horz" lIns="92255" tIns="46127" rIns="92255" bIns="46127" rtlCol="0" anchor="b"/>
          <a:lstStyle>
            <a:lvl1pPr algn="r">
              <a:defRPr sz="1200"/>
            </a:lvl1pPr>
          </a:lstStyle>
          <a:p>
            <a:fld id="{A64FCB2F-80EE-4695-95F2-A4D12FAE517E}" type="slidenum">
              <a:rPr lang="ru-RU" sz="160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94510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9100" cy="496969"/>
          </a:xfrm>
          <a:prstGeom prst="rect">
            <a:avLst/>
          </a:prstGeom>
        </p:spPr>
        <p:txBody>
          <a:bodyPr vert="horz" lIns="91279" tIns="45638" rIns="91279" bIns="45638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4945" y="5"/>
            <a:ext cx="2949100" cy="496969"/>
          </a:xfrm>
          <a:prstGeom prst="rect">
            <a:avLst/>
          </a:prstGeom>
        </p:spPr>
        <p:txBody>
          <a:bodyPr vert="horz" lIns="91279" tIns="45638" rIns="91279" bIns="45638" rtlCol="0"/>
          <a:lstStyle>
            <a:lvl1pPr algn="r">
              <a:defRPr sz="1200"/>
            </a:lvl1pPr>
          </a:lstStyle>
          <a:p>
            <a:fld id="{D353EF58-CCD0-46BB-A9E9-0F11666288A3}" type="datetimeFigureOut">
              <a:rPr lang="ru-RU" smtClean="0"/>
              <a:t>22.08.2016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7713"/>
            <a:ext cx="4967287" cy="3725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79" tIns="45638" rIns="91279" bIns="45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0562" y="4721195"/>
            <a:ext cx="5444490" cy="4472702"/>
          </a:xfrm>
          <a:prstGeom prst="rect">
            <a:avLst/>
          </a:prstGeom>
        </p:spPr>
        <p:txBody>
          <a:bodyPr vert="horz" lIns="91279" tIns="45638" rIns="91279" bIns="45638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2" y="9440650"/>
            <a:ext cx="2949100" cy="496969"/>
          </a:xfrm>
          <a:prstGeom prst="rect">
            <a:avLst/>
          </a:prstGeom>
        </p:spPr>
        <p:txBody>
          <a:bodyPr vert="horz" lIns="91279" tIns="45638" rIns="91279" bIns="45638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4945" y="9440650"/>
            <a:ext cx="2949100" cy="496969"/>
          </a:xfrm>
          <a:prstGeom prst="rect">
            <a:avLst/>
          </a:prstGeom>
        </p:spPr>
        <p:txBody>
          <a:bodyPr vert="horz" lIns="91279" tIns="45638" rIns="91279" bIns="45638" rtlCol="0" anchor="b"/>
          <a:lstStyle>
            <a:lvl1pPr algn="r">
              <a:defRPr sz="1200"/>
            </a:lvl1pPr>
          </a:lstStyle>
          <a:p>
            <a:fld id="{71BC3224-D1D6-4297-9E5D-ED8A8E2104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2907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C3224-D1D6-4297-9E5D-ED8A8E2104B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199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C3224-D1D6-4297-9E5D-ED8A8E2104B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347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C3224-D1D6-4297-9E5D-ED8A8E2104B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347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C3224-D1D6-4297-9E5D-ED8A8E2104B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154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C3224-D1D6-4297-9E5D-ED8A8E2104B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855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BC3224-D1D6-4297-9E5D-ED8A8E2104B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8489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BRF_titul-1.jp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" y="1665000"/>
            <a:ext cx="9144000" cy="2059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3724202"/>
            <a:ext cx="9144000" cy="313380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302" tIns="31651" rIns="63302" bIns="31651" rtlCol="0" anchor="ctr"/>
          <a:lstStyle/>
          <a:p>
            <a:pPr algn="ctr"/>
            <a:endParaRPr lang="en-US" sz="1662"/>
          </a:p>
        </p:txBody>
      </p:sp>
      <p:sp>
        <p:nvSpPr>
          <p:cNvPr id="9" name="Rectangle 8"/>
          <p:cNvSpPr/>
          <p:nvPr/>
        </p:nvSpPr>
        <p:spPr>
          <a:xfrm>
            <a:off x="0" y="-1"/>
            <a:ext cx="9144000" cy="136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3302" tIns="31651" rIns="63302" bIns="31651" rtlCol="0" anchor="ctr"/>
          <a:lstStyle/>
          <a:p>
            <a:pPr algn="ctr"/>
            <a:endParaRPr lang="en-US" sz="1662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551408" y="5594867"/>
            <a:ext cx="4324864" cy="6590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385">
                <a:solidFill>
                  <a:schemeClr val="bg1"/>
                </a:solidFill>
              </a:defRPr>
            </a:lvl1pPr>
            <a:lvl2pPr marL="316508" indent="0" algn="ctr">
              <a:buNone/>
              <a:defRPr sz="1385"/>
            </a:lvl2pPr>
            <a:lvl3pPr marL="633016" indent="0" algn="ctr">
              <a:buNone/>
              <a:defRPr sz="1292"/>
            </a:lvl3pPr>
            <a:lvl4pPr marL="949523" indent="0" algn="ctr">
              <a:buNone/>
              <a:defRPr sz="1108"/>
            </a:lvl4pPr>
            <a:lvl5pPr marL="1266030" indent="0" algn="ctr">
              <a:buNone/>
              <a:defRPr sz="1108"/>
            </a:lvl5pPr>
            <a:lvl6pPr marL="1582537" indent="0" algn="ctr">
              <a:buNone/>
              <a:defRPr sz="1108"/>
            </a:lvl6pPr>
            <a:lvl7pPr marL="1899044" indent="0" algn="ctr">
              <a:buNone/>
              <a:defRPr sz="1108"/>
            </a:lvl7pPr>
            <a:lvl8pPr marL="2215551" indent="0" algn="ctr">
              <a:buNone/>
              <a:defRPr sz="1108"/>
            </a:lvl8pPr>
            <a:lvl9pPr marL="2532059" indent="0" algn="ctr">
              <a:buNone/>
              <a:defRPr sz="1108"/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51412" y="4118922"/>
            <a:ext cx="4324865" cy="13592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385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6" name="Date Placeholder 26"/>
          <p:cNvSpPr>
            <a:spLocks noGrp="1"/>
          </p:cNvSpPr>
          <p:nvPr>
            <p:ph type="dt" sz="half" idx="2"/>
          </p:nvPr>
        </p:nvSpPr>
        <p:spPr>
          <a:xfrm>
            <a:off x="4576119" y="6315166"/>
            <a:ext cx="2133600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31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0" hasCustomPrompt="1"/>
          </p:nvPr>
        </p:nvSpPr>
        <p:spPr>
          <a:xfrm>
            <a:off x="411894" y="5594866"/>
            <a:ext cx="4058227" cy="6658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1385" baseline="0">
                <a:solidFill>
                  <a:schemeClr val="bg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 smtClean="0"/>
              <a:t>Введите имя автора презентации</a:t>
            </a:r>
            <a:endParaRPr lang="ru-RU" dirty="0"/>
          </a:p>
        </p:txBody>
      </p:sp>
      <p:pic>
        <p:nvPicPr>
          <p:cNvPr id="12" name="Picture 11" descr="alllogo-02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234" y="91639"/>
            <a:ext cx="2737532" cy="151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4854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0100" y="399547"/>
            <a:ext cx="7406685" cy="360000"/>
          </a:xfrm>
          <a:prstGeom prst="rect">
            <a:avLst/>
          </a:prstGeom>
        </p:spPr>
        <p:txBody>
          <a:bodyPr anchor="ctr"/>
          <a:lstStyle>
            <a:lvl1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2606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/>
        </p:nvCxnSpPr>
        <p:spPr>
          <a:xfrm flipH="1">
            <a:off x="256137" y="846495"/>
            <a:ext cx="8532000" cy="0"/>
          </a:xfrm>
          <a:prstGeom prst="line">
            <a:avLst/>
          </a:prstGeom>
          <a:ln w="3175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22471" y="344618"/>
            <a:ext cx="360179" cy="46985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1">
                <a:solidFill>
                  <a:srgbClr val="000000"/>
                </a:solidFill>
              </a:defRPr>
            </a:lvl1pPr>
          </a:lstStyle>
          <a:p>
            <a:fld id="{52903043-0BCD-43EE-9F6F-644330271C81}" type="slidenum">
              <a:rPr lang="ru-RU" smtClean="0"/>
              <a:pPr/>
              <a:t>‹#›</a:t>
            </a:fld>
            <a:endParaRPr lang="ru-RU" dirty="0"/>
          </a:p>
        </p:txBody>
      </p:sp>
      <p:cxnSp>
        <p:nvCxnSpPr>
          <p:cNvPr id="17" name="Straight Connector 14"/>
          <p:cNvCxnSpPr/>
          <p:nvPr userDrawn="1"/>
        </p:nvCxnSpPr>
        <p:spPr>
          <a:xfrm flipV="1">
            <a:off x="736605" y="307984"/>
            <a:ext cx="0" cy="539751"/>
          </a:xfrm>
          <a:prstGeom prst="line">
            <a:avLst/>
          </a:prstGeom>
          <a:ln w="3175" cmpd="sng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5" descr="CBRF-Logo_20mm.png"/>
          <p:cNvPicPr preferRelativeResize="0"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301"/>
          <a:stretch/>
        </p:blipFill>
        <p:spPr>
          <a:xfrm>
            <a:off x="239203" y="354606"/>
            <a:ext cx="478348" cy="46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6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22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633031" rtl="0" eaLnBrk="1" latinLnBrk="0" hangingPunct="1">
        <a:lnSpc>
          <a:spcPct val="90000"/>
        </a:lnSpc>
        <a:spcBef>
          <a:spcPct val="0"/>
        </a:spcBef>
        <a:buNone/>
        <a:defRPr sz="1662" kern="120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61546" indent="-61546" algn="l" defTabSz="633031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015" kern="1200">
          <a:solidFill>
            <a:srgbClr val="000000"/>
          </a:solidFill>
          <a:latin typeface="+mn-lt"/>
          <a:ea typeface="+mn-ea"/>
          <a:cs typeface="+mn-cs"/>
        </a:defRPr>
      </a:lvl1pPr>
      <a:lvl2pPr marL="123089" indent="-61546" algn="l" defTabSz="6330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015" kern="1200">
          <a:solidFill>
            <a:srgbClr val="000000"/>
          </a:solidFill>
          <a:latin typeface="+mn-lt"/>
          <a:ea typeface="+mn-ea"/>
          <a:cs typeface="+mn-cs"/>
        </a:defRPr>
      </a:lvl2pPr>
      <a:lvl3pPr marL="185733" indent="-62645" algn="l" defTabSz="6330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015" kern="1200">
          <a:solidFill>
            <a:srgbClr val="000000"/>
          </a:solidFill>
          <a:latin typeface="+mn-lt"/>
          <a:ea typeface="+mn-ea"/>
          <a:cs typeface="+mn-cs"/>
        </a:defRPr>
      </a:lvl3pPr>
      <a:lvl4pPr marL="247277" indent="-61546" algn="l" defTabSz="6330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015" kern="1200">
          <a:solidFill>
            <a:srgbClr val="000000"/>
          </a:solidFill>
          <a:latin typeface="+mn-lt"/>
          <a:ea typeface="+mn-ea"/>
          <a:cs typeface="+mn-cs"/>
        </a:defRPr>
      </a:lvl4pPr>
      <a:lvl5pPr marL="308823" indent="-61546" algn="l" defTabSz="6330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015" kern="1200">
          <a:solidFill>
            <a:srgbClr val="000000"/>
          </a:solidFill>
          <a:latin typeface="+mn-lt"/>
          <a:ea typeface="+mn-ea"/>
          <a:cs typeface="+mn-cs"/>
        </a:defRPr>
      </a:lvl5pPr>
      <a:lvl6pPr marL="1740834" indent="-158258" algn="l" defTabSz="6330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92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indent="-158258" algn="l" defTabSz="6330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92" kern="1200">
          <a:solidFill>
            <a:schemeClr val="tx1"/>
          </a:solidFill>
          <a:latin typeface="+mn-lt"/>
          <a:ea typeface="+mn-ea"/>
          <a:cs typeface="+mn-cs"/>
        </a:defRPr>
      </a:lvl7pPr>
      <a:lvl8pPr marL="2373864" indent="-158258" algn="l" defTabSz="6330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92" kern="1200">
          <a:solidFill>
            <a:schemeClr val="tx1"/>
          </a:solidFill>
          <a:latin typeface="+mn-lt"/>
          <a:ea typeface="+mn-ea"/>
          <a:cs typeface="+mn-cs"/>
        </a:defRPr>
      </a:lvl8pPr>
      <a:lvl9pPr marL="2690379" indent="-158258" algn="l" defTabSz="633031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33031" rtl="0" eaLnBrk="1" latinLnBrk="0" hangingPunct="1">
        <a:defRPr sz="1292" kern="1200">
          <a:solidFill>
            <a:schemeClr val="tx1"/>
          </a:solidFill>
          <a:latin typeface="+mn-lt"/>
          <a:ea typeface="+mn-ea"/>
          <a:cs typeface="+mn-cs"/>
        </a:defRPr>
      </a:lvl1pPr>
      <a:lvl2pPr marL="316515" algn="l" defTabSz="633031" rtl="0" eaLnBrk="1" latinLnBrk="0" hangingPunct="1">
        <a:defRPr sz="1292" kern="1200">
          <a:solidFill>
            <a:schemeClr val="tx1"/>
          </a:solidFill>
          <a:latin typeface="+mn-lt"/>
          <a:ea typeface="+mn-ea"/>
          <a:cs typeface="+mn-cs"/>
        </a:defRPr>
      </a:lvl2pPr>
      <a:lvl3pPr marL="633031" algn="l" defTabSz="633031" rtl="0" eaLnBrk="1" latinLnBrk="0" hangingPunct="1">
        <a:defRPr sz="1292" kern="1200">
          <a:solidFill>
            <a:schemeClr val="tx1"/>
          </a:solidFill>
          <a:latin typeface="+mn-lt"/>
          <a:ea typeface="+mn-ea"/>
          <a:cs typeface="+mn-cs"/>
        </a:defRPr>
      </a:lvl3pPr>
      <a:lvl4pPr marL="949546" algn="l" defTabSz="633031" rtl="0" eaLnBrk="1" latinLnBrk="0" hangingPunct="1">
        <a:defRPr sz="1292" kern="1200">
          <a:solidFill>
            <a:schemeClr val="tx1"/>
          </a:solidFill>
          <a:latin typeface="+mn-lt"/>
          <a:ea typeface="+mn-ea"/>
          <a:cs typeface="+mn-cs"/>
        </a:defRPr>
      </a:lvl4pPr>
      <a:lvl5pPr marL="1266061" algn="l" defTabSz="633031" rtl="0" eaLnBrk="1" latinLnBrk="0" hangingPunct="1">
        <a:defRPr sz="1292" kern="1200">
          <a:solidFill>
            <a:schemeClr val="tx1"/>
          </a:solidFill>
          <a:latin typeface="+mn-lt"/>
          <a:ea typeface="+mn-ea"/>
          <a:cs typeface="+mn-cs"/>
        </a:defRPr>
      </a:lvl5pPr>
      <a:lvl6pPr marL="1582576" algn="l" defTabSz="633031" rtl="0" eaLnBrk="1" latinLnBrk="0" hangingPunct="1">
        <a:defRPr sz="1292" kern="1200">
          <a:solidFill>
            <a:schemeClr val="tx1"/>
          </a:solidFill>
          <a:latin typeface="+mn-lt"/>
          <a:ea typeface="+mn-ea"/>
          <a:cs typeface="+mn-cs"/>
        </a:defRPr>
      </a:lvl6pPr>
      <a:lvl7pPr marL="1899091" algn="l" defTabSz="633031" rtl="0" eaLnBrk="1" latinLnBrk="0" hangingPunct="1">
        <a:defRPr sz="1292" kern="1200">
          <a:solidFill>
            <a:schemeClr val="tx1"/>
          </a:solidFill>
          <a:latin typeface="+mn-lt"/>
          <a:ea typeface="+mn-ea"/>
          <a:cs typeface="+mn-cs"/>
        </a:defRPr>
      </a:lvl7pPr>
      <a:lvl8pPr marL="2215606" algn="l" defTabSz="633031" rtl="0" eaLnBrk="1" latinLnBrk="0" hangingPunct="1">
        <a:defRPr sz="1292" kern="1200">
          <a:solidFill>
            <a:schemeClr val="tx1"/>
          </a:solidFill>
          <a:latin typeface="+mn-lt"/>
          <a:ea typeface="+mn-ea"/>
          <a:cs typeface="+mn-cs"/>
        </a:defRPr>
      </a:lvl8pPr>
      <a:lvl9pPr marL="2532121" algn="l" defTabSz="633031" rtl="0" eaLnBrk="1" latinLnBrk="0" hangingPunct="1">
        <a:defRPr sz="12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09" userDrawn="1">
          <p15:clr>
            <a:srgbClr val="F26B43"/>
          </p15:clr>
        </p15:guide>
        <p15:guide id="3" pos="4270" userDrawn="1">
          <p15:clr>
            <a:srgbClr val="F26B43"/>
          </p15:clr>
        </p15:guide>
        <p15:guide id="4" orient="horz" pos="61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/>
        </p:nvSpPr>
        <p:spPr>
          <a:xfrm>
            <a:off x="161925" y="3970453"/>
            <a:ext cx="8734425" cy="12029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33031" rtl="0" eaLnBrk="1" latinLnBrk="0" hangingPunct="1">
              <a:lnSpc>
                <a:spcPct val="90000"/>
              </a:lnSpc>
              <a:spcBef>
                <a:spcPts val="693"/>
              </a:spcBef>
              <a:buFont typeface="Arial" panose="020B0604020202020204" pitchFamily="34" charset="0"/>
              <a:buNone/>
              <a:defRPr sz="138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16508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385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633016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292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949523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266030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582537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044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551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059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ru-RU" sz="1800" b="1" dirty="0" smtClean="0"/>
              <a:t>Проект ДБУиО-П-5</a:t>
            </a:r>
            <a:endParaRPr lang="en-US" sz="1800" b="1" dirty="0" smtClean="0"/>
          </a:p>
          <a:p>
            <a:pPr algn="ctr">
              <a:lnSpc>
                <a:spcPct val="100000"/>
              </a:lnSpc>
            </a:pPr>
            <a:r>
              <a:rPr lang="ru-RU" sz="1800" i="1" dirty="0" smtClean="0"/>
              <a:t>Централизация </a:t>
            </a:r>
            <a:r>
              <a:rPr lang="ru-RU" sz="1800" i="1" dirty="0"/>
              <a:t>функций по ведению бухгалтерского и налогового учета, составлению бухгалтерской (финансовой) и налоговой отчетности (включая объединение балансов), совершаемых полевыми учреждениями Банка России</a:t>
            </a:r>
            <a:r>
              <a:rPr lang="ru-RU" sz="1800" i="1" dirty="0" smtClean="0"/>
              <a:t>.</a:t>
            </a:r>
            <a:endParaRPr lang="en-US" sz="1800" b="1" dirty="0" smtClean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1800" b="1" dirty="0" smtClean="0">
              <a:cs typeface="Times New Roman" panose="02020603050405020304" pitchFamily="18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285492" y="5589299"/>
            <a:ext cx="8734425" cy="5576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33031" rtl="0" eaLnBrk="1" latinLnBrk="0" hangingPunct="1">
              <a:lnSpc>
                <a:spcPct val="90000"/>
              </a:lnSpc>
              <a:spcBef>
                <a:spcPts val="693"/>
              </a:spcBef>
              <a:buFont typeface="Arial" panose="020B0604020202020204" pitchFamily="34" charset="0"/>
              <a:buNone/>
              <a:defRPr sz="1385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16508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385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633016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292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949523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266030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1582537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044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15551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32059" indent="0" algn="ctr" defTabSz="633031" rtl="0" eaLnBrk="1" latinLnBrk="0" hangingPunct="1">
              <a:lnSpc>
                <a:spcPct val="90000"/>
              </a:lnSpc>
              <a:spcBef>
                <a:spcPts val="346"/>
              </a:spcBef>
              <a:buFont typeface="Arial" panose="020B0604020202020204" pitchFamily="34" charset="0"/>
              <a:buNone/>
              <a:defRPr sz="110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ru-RU" sz="1800" dirty="0" smtClean="0">
                <a:cs typeface="Times New Roman" panose="02020603050405020304" pitchFamily="18" charset="0"/>
              </a:rPr>
              <a:t>Выбор </a:t>
            </a:r>
            <a:r>
              <a:rPr lang="ru-RU" sz="1800" dirty="0">
                <a:cs typeface="Times New Roman" panose="02020603050405020304" pitchFamily="18" charset="0"/>
              </a:rPr>
              <a:t>варианта архитектуры централизации баланса полевых учреждений Банка России </a:t>
            </a:r>
          </a:p>
          <a:p>
            <a:pPr algn="ctr">
              <a:lnSpc>
                <a:spcPct val="100000"/>
              </a:lnSpc>
            </a:pPr>
            <a:endParaRPr lang="en-US" sz="1800" b="1" dirty="0" smtClean="0"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ru-RU" sz="1800" b="1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92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СОДЕРЖАНИЕ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4" name="Rectangle 36"/>
          <p:cNvSpPr>
            <a:spLocks noChangeArrowheads="1"/>
          </p:cNvSpPr>
          <p:nvPr/>
        </p:nvSpPr>
        <p:spPr bwMode="auto">
          <a:xfrm>
            <a:off x="625716" y="1188485"/>
            <a:ext cx="7796755" cy="407841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 sz="1662" dirty="0"/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1492256" y="1321166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 smtClean="0">
                <a:solidFill>
                  <a:srgbClr val="373743"/>
                </a:solidFill>
              </a:rPr>
              <a:t>Дорожные карты проектов: </a:t>
            </a:r>
            <a:r>
              <a:rPr lang="ru-RU" sz="1200" b="1" dirty="0">
                <a:solidFill>
                  <a:srgbClr val="373743"/>
                </a:solidFill>
              </a:rPr>
              <a:t>АС ППС, АС БУ, </a:t>
            </a:r>
            <a:r>
              <a:rPr lang="ru-RU" sz="1200" b="1" dirty="0" smtClean="0">
                <a:solidFill>
                  <a:srgbClr val="373743"/>
                </a:solidFill>
              </a:rPr>
              <a:t>централизация </a:t>
            </a:r>
            <a:r>
              <a:rPr lang="ru-RU" sz="1200" b="1" dirty="0">
                <a:solidFill>
                  <a:srgbClr val="373743"/>
                </a:solidFill>
              </a:rPr>
              <a:t>ПУ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6" name="Text Box 39"/>
          <p:cNvSpPr txBox="1">
            <a:spLocks noChangeArrowheads="1"/>
          </p:cNvSpPr>
          <p:nvPr/>
        </p:nvSpPr>
        <p:spPr bwMode="auto">
          <a:xfrm>
            <a:off x="813646" y="887303"/>
            <a:ext cx="2988000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 dirty="0" smtClean="0">
                <a:solidFill>
                  <a:srgbClr val="000000"/>
                </a:solidFill>
              </a:rPr>
              <a:t>Вводная </a:t>
            </a:r>
            <a:r>
              <a:rPr lang="ru-RU" sz="1400" b="1" dirty="0">
                <a:solidFill>
                  <a:srgbClr val="000000"/>
                </a:solidFill>
              </a:rPr>
              <a:t>часть</a:t>
            </a:r>
            <a:endParaRPr lang="en-GB" sz="1400" b="1" dirty="0">
              <a:solidFill>
                <a:srgbClr val="000000"/>
              </a:solidFill>
            </a:endParaRPr>
          </a:p>
        </p:txBody>
      </p:sp>
      <p:sp>
        <p:nvSpPr>
          <p:cNvPr id="7" name="Oval 28"/>
          <p:cNvSpPr>
            <a:spLocks noChangeArrowheads="1"/>
          </p:cNvSpPr>
          <p:nvPr/>
        </p:nvSpPr>
        <p:spPr bwMode="auto">
          <a:xfrm>
            <a:off x="1229015" y="1323302"/>
            <a:ext cx="205200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3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8" name="Rectangle 36"/>
          <p:cNvSpPr>
            <a:spLocks noChangeArrowheads="1"/>
          </p:cNvSpPr>
          <p:nvPr/>
        </p:nvSpPr>
        <p:spPr bwMode="auto">
          <a:xfrm>
            <a:off x="625716" y="1810892"/>
            <a:ext cx="7796755" cy="1424747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 sz="1662" dirty="0"/>
          </a:p>
        </p:txBody>
      </p:sp>
      <p:sp>
        <p:nvSpPr>
          <p:cNvPr id="10" name="Text Box 39"/>
          <p:cNvSpPr txBox="1">
            <a:spLocks noChangeArrowheads="1"/>
          </p:cNvSpPr>
          <p:nvPr/>
        </p:nvSpPr>
        <p:spPr bwMode="auto">
          <a:xfrm>
            <a:off x="807301" y="1608614"/>
            <a:ext cx="4028309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67058"/>
            <a:r>
              <a:rPr lang="ru-RU" sz="1400" b="1" dirty="0">
                <a:solidFill>
                  <a:srgbClr val="000000"/>
                </a:solidFill>
              </a:rPr>
              <a:t>Выбор варианта формирование баланса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492256" y="2178258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>
                <a:solidFill>
                  <a:srgbClr val="373743"/>
                </a:solidFill>
              </a:rPr>
              <a:t>Вариант 1 - Формирование баланса в РАБИС-НП</a:t>
            </a:r>
          </a:p>
        </p:txBody>
      </p:sp>
      <p:sp>
        <p:nvSpPr>
          <p:cNvPr id="15" name="Oval 28"/>
          <p:cNvSpPr>
            <a:spLocks noChangeArrowheads="1"/>
          </p:cNvSpPr>
          <p:nvPr/>
        </p:nvSpPr>
        <p:spPr bwMode="auto">
          <a:xfrm>
            <a:off x="1229015" y="2181315"/>
            <a:ext cx="205200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5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17" name="Text Box 39"/>
          <p:cNvSpPr txBox="1">
            <a:spLocks noChangeArrowheads="1"/>
          </p:cNvSpPr>
          <p:nvPr/>
        </p:nvSpPr>
        <p:spPr bwMode="auto">
          <a:xfrm>
            <a:off x="2297778" y="5383449"/>
            <a:ext cx="4300221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 dirty="0">
                <a:solidFill>
                  <a:srgbClr val="1B1B1B"/>
                </a:solidFill>
              </a:rPr>
              <a:t>Выбор варианта централизации АС ВХД</a:t>
            </a:r>
            <a:endParaRPr lang="en-GB" sz="1400" b="1" dirty="0">
              <a:solidFill>
                <a:srgbClr val="1B1B1B"/>
              </a:solidFill>
            </a:endParaRP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1492256" y="2420770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>
                <a:solidFill>
                  <a:srgbClr val="373743"/>
                </a:solidFill>
              </a:rPr>
              <a:t>Вариант 2 - Формирование баланса в ТПК САБС в </a:t>
            </a:r>
            <a:r>
              <a:rPr lang="ru-RU" sz="1200" b="1" dirty="0" smtClean="0">
                <a:solidFill>
                  <a:srgbClr val="373743"/>
                </a:solidFill>
              </a:rPr>
              <a:t>БПУ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19" name="Oval 28"/>
          <p:cNvSpPr>
            <a:spLocks noChangeArrowheads="1"/>
          </p:cNvSpPr>
          <p:nvPr/>
        </p:nvSpPr>
        <p:spPr bwMode="auto">
          <a:xfrm>
            <a:off x="1229015" y="2423827"/>
            <a:ext cx="205200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6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1492256" y="2912302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 smtClean="0">
                <a:solidFill>
                  <a:srgbClr val="373743"/>
                </a:solidFill>
              </a:rPr>
              <a:t>Предложение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23" name="Oval 28"/>
          <p:cNvSpPr>
            <a:spLocks noChangeArrowheads="1"/>
          </p:cNvSpPr>
          <p:nvPr/>
        </p:nvSpPr>
        <p:spPr bwMode="auto">
          <a:xfrm>
            <a:off x="1229015" y="2915359"/>
            <a:ext cx="205200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8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439913" y="6214393"/>
            <a:ext cx="295985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50" baseline="30000" dirty="0">
                <a:solidFill>
                  <a:schemeClr val="bg1">
                    <a:lumMod val="50000"/>
                  </a:schemeClr>
                </a:solidFill>
                <a:cs typeface="Times New Roman" panose="02020603050405020304" pitchFamily="18" charset="0"/>
              </a:rPr>
              <a:t>1</a:t>
            </a:r>
            <a:r>
              <a:rPr lang="ru-RU" sz="1050" dirty="0">
                <a:solidFill>
                  <a:schemeClr val="bg1">
                    <a:lumMod val="50000"/>
                  </a:schemeClr>
                </a:solidFill>
                <a:cs typeface="Times New Roman" panose="02020603050405020304" pitchFamily="18" charset="0"/>
              </a:rPr>
              <a:t> В </a:t>
            </a:r>
            <a:r>
              <a:rPr lang="ru-RU" sz="1050" dirty="0" smtClean="0">
                <a:solidFill>
                  <a:schemeClr val="bg1">
                    <a:lumMod val="50000"/>
                  </a:schemeClr>
                </a:solidFill>
                <a:cs typeface="Times New Roman" panose="02020603050405020304" pitchFamily="18" charset="0"/>
              </a:rPr>
              <a:t>кружках вписываются номера страниц</a:t>
            </a:r>
            <a:endParaRPr lang="en-US" sz="1050" dirty="0">
              <a:solidFill>
                <a:schemeClr val="bg1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29" name="Прямоугольник 28"/>
          <p:cNvSpPr/>
          <p:nvPr/>
        </p:nvSpPr>
        <p:spPr>
          <a:xfrm>
            <a:off x="1330139" y="1224317"/>
            <a:ext cx="20219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50" baseline="30000" dirty="0" smtClean="0">
                <a:solidFill>
                  <a:schemeClr val="bg1">
                    <a:lumMod val="50000"/>
                  </a:schemeClr>
                </a:solidFill>
                <a:cs typeface="Times New Roman" panose="02020603050405020304" pitchFamily="18" charset="0"/>
              </a:rPr>
              <a:t>1</a:t>
            </a:r>
            <a:endParaRPr lang="en-US" sz="1050" dirty="0">
              <a:solidFill>
                <a:schemeClr val="bg1">
                  <a:lumMod val="50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36" name="Rectangle 36"/>
          <p:cNvSpPr>
            <a:spLocks noChangeArrowheads="1"/>
          </p:cNvSpPr>
          <p:nvPr/>
        </p:nvSpPr>
        <p:spPr bwMode="auto">
          <a:xfrm>
            <a:off x="625716" y="4588013"/>
            <a:ext cx="7796755" cy="46701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 sz="1662" dirty="0"/>
          </a:p>
        </p:txBody>
      </p:sp>
      <p:sp>
        <p:nvSpPr>
          <p:cNvPr id="37" name="Text Box 39"/>
          <p:cNvSpPr txBox="1">
            <a:spLocks noChangeArrowheads="1"/>
          </p:cNvSpPr>
          <p:nvPr/>
        </p:nvSpPr>
        <p:spPr bwMode="auto">
          <a:xfrm>
            <a:off x="813646" y="4442599"/>
            <a:ext cx="4021964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 dirty="0" smtClean="0">
                <a:solidFill>
                  <a:srgbClr val="1B1B1B"/>
                </a:solidFill>
              </a:rPr>
              <a:t>Предлагаемое решение</a:t>
            </a:r>
            <a:endParaRPr lang="ru-RU" sz="1400" b="1" dirty="0">
              <a:solidFill>
                <a:srgbClr val="1B1B1B"/>
              </a:solidFill>
            </a:endParaRPr>
          </a:p>
        </p:txBody>
      </p:sp>
      <p:sp>
        <p:nvSpPr>
          <p:cNvPr id="38" name="Rectangle 8"/>
          <p:cNvSpPr>
            <a:spLocks noChangeArrowheads="1"/>
          </p:cNvSpPr>
          <p:nvPr/>
        </p:nvSpPr>
        <p:spPr bwMode="auto">
          <a:xfrm>
            <a:off x="1492256" y="4744603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 smtClean="0">
                <a:solidFill>
                  <a:srgbClr val="373743"/>
                </a:solidFill>
              </a:rPr>
              <a:t>Предлагаемое решение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39" name="Oval 28"/>
          <p:cNvSpPr>
            <a:spLocks noChangeArrowheads="1"/>
          </p:cNvSpPr>
          <p:nvPr/>
        </p:nvSpPr>
        <p:spPr bwMode="auto">
          <a:xfrm>
            <a:off x="1229015" y="4744603"/>
            <a:ext cx="202223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12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56" name="Rectangle 36"/>
          <p:cNvSpPr>
            <a:spLocks noChangeArrowheads="1"/>
          </p:cNvSpPr>
          <p:nvPr/>
        </p:nvSpPr>
        <p:spPr bwMode="auto">
          <a:xfrm>
            <a:off x="625716" y="5226244"/>
            <a:ext cx="7796755" cy="988149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 sz="1662" dirty="0"/>
          </a:p>
        </p:txBody>
      </p:sp>
      <p:sp>
        <p:nvSpPr>
          <p:cNvPr id="57" name="Text Box 39"/>
          <p:cNvSpPr txBox="1">
            <a:spLocks noChangeArrowheads="1"/>
          </p:cNvSpPr>
          <p:nvPr/>
        </p:nvSpPr>
        <p:spPr bwMode="auto">
          <a:xfrm>
            <a:off x="813645" y="5072593"/>
            <a:ext cx="4021965" cy="63094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ru-RU" sz="1400" b="1" dirty="0" smtClean="0">
                <a:solidFill>
                  <a:srgbClr val="000000"/>
                </a:solidFill>
              </a:rPr>
              <a:t>Приложения</a:t>
            </a:r>
            <a:endParaRPr lang="ru-RU" sz="1400" b="1" dirty="0">
              <a:solidFill>
                <a:srgbClr val="000000"/>
              </a:solidFill>
            </a:endParaRPr>
          </a:p>
          <a:p>
            <a:pPr>
              <a:spcBef>
                <a:spcPct val="50000"/>
              </a:spcBef>
            </a:pPr>
            <a:endParaRPr lang="en-GB" sz="1400" b="1" dirty="0">
              <a:solidFill>
                <a:srgbClr val="1B1B1B"/>
              </a:solidFill>
            </a:endParaRPr>
          </a:p>
        </p:txBody>
      </p:sp>
      <p:sp>
        <p:nvSpPr>
          <p:cNvPr id="58" name="Rectangle 8"/>
          <p:cNvSpPr>
            <a:spLocks noChangeArrowheads="1"/>
          </p:cNvSpPr>
          <p:nvPr/>
        </p:nvSpPr>
        <p:spPr bwMode="auto">
          <a:xfrm>
            <a:off x="1492256" y="5382835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 smtClean="0">
                <a:solidFill>
                  <a:srgbClr val="373743"/>
                </a:solidFill>
              </a:rPr>
              <a:t>Приложение 1 - Схема </a:t>
            </a:r>
            <a:r>
              <a:rPr lang="ru-RU" sz="1200" b="1" dirty="0">
                <a:solidFill>
                  <a:srgbClr val="373743"/>
                </a:solidFill>
              </a:rPr>
              <a:t>организации связи ПУ по защищенным каналам </a:t>
            </a:r>
            <a:r>
              <a:rPr lang="ru-RU" sz="1200" b="1" dirty="0" smtClean="0">
                <a:solidFill>
                  <a:srgbClr val="373743"/>
                </a:solidFill>
              </a:rPr>
              <a:t>связи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59" name="Oval 28"/>
          <p:cNvSpPr>
            <a:spLocks noChangeArrowheads="1"/>
          </p:cNvSpPr>
          <p:nvPr/>
        </p:nvSpPr>
        <p:spPr bwMode="auto">
          <a:xfrm>
            <a:off x="1229015" y="5382835"/>
            <a:ext cx="202223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13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66" name="Rectangle 36"/>
          <p:cNvSpPr>
            <a:spLocks noChangeArrowheads="1"/>
          </p:cNvSpPr>
          <p:nvPr/>
        </p:nvSpPr>
        <p:spPr bwMode="auto">
          <a:xfrm>
            <a:off x="625716" y="3454397"/>
            <a:ext cx="7796755" cy="92084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 sz="1662" dirty="0"/>
          </a:p>
        </p:txBody>
      </p:sp>
      <p:sp>
        <p:nvSpPr>
          <p:cNvPr id="67" name="Text Box 39"/>
          <p:cNvSpPr txBox="1">
            <a:spLocks noChangeArrowheads="1"/>
          </p:cNvSpPr>
          <p:nvPr/>
        </p:nvSpPr>
        <p:spPr bwMode="auto">
          <a:xfrm>
            <a:off x="807301" y="3252119"/>
            <a:ext cx="4028309" cy="30777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167058"/>
            <a:r>
              <a:rPr lang="ru-RU" sz="1400" b="1" dirty="0">
                <a:solidFill>
                  <a:srgbClr val="373743"/>
                </a:solidFill>
              </a:rPr>
              <a:t>Выбор варианта централизации АС ВХД</a:t>
            </a:r>
          </a:p>
        </p:txBody>
      </p:sp>
      <p:sp>
        <p:nvSpPr>
          <p:cNvPr id="68" name="Rectangle 8"/>
          <p:cNvSpPr>
            <a:spLocks noChangeArrowheads="1"/>
          </p:cNvSpPr>
          <p:nvPr/>
        </p:nvSpPr>
        <p:spPr bwMode="auto">
          <a:xfrm>
            <a:off x="1492256" y="3621103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>
                <a:solidFill>
                  <a:srgbClr val="373743"/>
                </a:solidFill>
              </a:rPr>
              <a:t>Вариант 1 – С организацией удаленных рабочих мест </a:t>
            </a:r>
            <a:r>
              <a:rPr lang="ru-RU" sz="1200" b="1" dirty="0" smtClean="0">
                <a:solidFill>
                  <a:srgbClr val="373743"/>
                </a:solidFill>
              </a:rPr>
              <a:t>в ОПУ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69" name="Oval 28"/>
          <p:cNvSpPr>
            <a:spLocks noChangeArrowheads="1"/>
          </p:cNvSpPr>
          <p:nvPr/>
        </p:nvSpPr>
        <p:spPr bwMode="auto">
          <a:xfrm>
            <a:off x="1229015" y="3624160"/>
            <a:ext cx="205200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9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70" name="Rectangle 8"/>
          <p:cNvSpPr>
            <a:spLocks noChangeArrowheads="1"/>
          </p:cNvSpPr>
          <p:nvPr/>
        </p:nvSpPr>
        <p:spPr bwMode="auto">
          <a:xfrm>
            <a:off x="1492256" y="3863615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>
                <a:solidFill>
                  <a:srgbClr val="373743"/>
                </a:solidFill>
              </a:rPr>
              <a:t>Вариант 2 – С локальными БД в ОПУ и </a:t>
            </a:r>
            <a:r>
              <a:rPr lang="ru-RU" sz="1200" b="1" dirty="0" smtClean="0">
                <a:solidFill>
                  <a:srgbClr val="373743"/>
                </a:solidFill>
              </a:rPr>
              <a:t>организацией синхронизации данных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71" name="Oval 28"/>
          <p:cNvSpPr>
            <a:spLocks noChangeArrowheads="1"/>
          </p:cNvSpPr>
          <p:nvPr/>
        </p:nvSpPr>
        <p:spPr bwMode="auto">
          <a:xfrm>
            <a:off x="1229015" y="3866672"/>
            <a:ext cx="205200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10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72" name="Rectangle 8"/>
          <p:cNvSpPr>
            <a:spLocks noChangeArrowheads="1"/>
          </p:cNvSpPr>
          <p:nvPr/>
        </p:nvSpPr>
        <p:spPr bwMode="auto">
          <a:xfrm>
            <a:off x="1492256" y="4101147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 smtClean="0">
                <a:solidFill>
                  <a:srgbClr val="373743"/>
                </a:solidFill>
              </a:rPr>
              <a:t>Предложение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73" name="Oval 28"/>
          <p:cNvSpPr>
            <a:spLocks noChangeArrowheads="1"/>
          </p:cNvSpPr>
          <p:nvPr/>
        </p:nvSpPr>
        <p:spPr bwMode="auto">
          <a:xfrm>
            <a:off x="1229015" y="4104204"/>
            <a:ext cx="205200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11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74" name="Rectangle 8"/>
          <p:cNvSpPr>
            <a:spLocks noChangeArrowheads="1"/>
          </p:cNvSpPr>
          <p:nvPr/>
        </p:nvSpPr>
        <p:spPr bwMode="auto">
          <a:xfrm>
            <a:off x="1498606" y="5641940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 smtClean="0">
                <a:solidFill>
                  <a:srgbClr val="373743"/>
                </a:solidFill>
              </a:rPr>
              <a:t>Приложение 2 - </a:t>
            </a:r>
            <a:r>
              <a:rPr lang="ru-RU" sz="1200" b="1" dirty="0">
                <a:solidFill>
                  <a:srgbClr val="373743"/>
                </a:solidFill>
              </a:rPr>
              <a:t>Влияние проекта </a:t>
            </a:r>
            <a:r>
              <a:rPr lang="ru-RU" sz="1200" b="1" dirty="0" smtClean="0">
                <a:solidFill>
                  <a:srgbClr val="373743"/>
                </a:solidFill>
              </a:rPr>
              <a:t>ДПУ-П-1 Переход на АС ВХД 1С версии 8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75" name="Oval 28"/>
          <p:cNvSpPr>
            <a:spLocks noChangeArrowheads="1"/>
          </p:cNvSpPr>
          <p:nvPr/>
        </p:nvSpPr>
        <p:spPr bwMode="auto">
          <a:xfrm>
            <a:off x="1235365" y="5637543"/>
            <a:ext cx="207291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14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40" name="Rectangle 8"/>
          <p:cNvSpPr>
            <a:spLocks noChangeArrowheads="1"/>
          </p:cNvSpPr>
          <p:nvPr/>
        </p:nvSpPr>
        <p:spPr bwMode="auto">
          <a:xfrm>
            <a:off x="1492256" y="5910671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 smtClean="0">
                <a:solidFill>
                  <a:srgbClr val="373743"/>
                </a:solidFill>
              </a:rPr>
              <a:t>Приложение 3 - Глоссарий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41" name="Oval 28"/>
          <p:cNvSpPr>
            <a:spLocks noChangeArrowheads="1"/>
          </p:cNvSpPr>
          <p:nvPr/>
        </p:nvSpPr>
        <p:spPr bwMode="auto">
          <a:xfrm>
            <a:off x="1229015" y="5906274"/>
            <a:ext cx="207291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15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42" name="Rectangle 8"/>
          <p:cNvSpPr>
            <a:spLocks noChangeArrowheads="1"/>
          </p:cNvSpPr>
          <p:nvPr/>
        </p:nvSpPr>
        <p:spPr bwMode="auto">
          <a:xfrm>
            <a:off x="1489081" y="2671595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>
                <a:solidFill>
                  <a:srgbClr val="373743"/>
                </a:solidFill>
              </a:rPr>
              <a:t>Вариант </a:t>
            </a:r>
            <a:r>
              <a:rPr lang="ru-RU" sz="1200" b="1" dirty="0" smtClean="0">
                <a:solidFill>
                  <a:srgbClr val="373743"/>
                </a:solidFill>
              </a:rPr>
              <a:t>3 </a:t>
            </a:r>
            <a:r>
              <a:rPr lang="ru-RU" sz="1200" b="1" dirty="0">
                <a:solidFill>
                  <a:srgbClr val="373743"/>
                </a:solidFill>
              </a:rPr>
              <a:t>- Формирование баланса в </a:t>
            </a:r>
            <a:r>
              <a:rPr lang="ru-RU" sz="1200" b="1" dirty="0" smtClean="0">
                <a:solidFill>
                  <a:srgbClr val="373743"/>
                </a:solidFill>
              </a:rPr>
              <a:t>АС БУ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43" name="Oval 28"/>
          <p:cNvSpPr>
            <a:spLocks noChangeArrowheads="1"/>
          </p:cNvSpPr>
          <p:nvPr/>
        </p:nvSpPr>
        <p:spPr bwMode="auto">
          <a:xfrm>
            <a:off x="1225840" y="2674652"/>
            <a:ext cx="205200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 smtClean="0">
                <a:solidFill>
                  <a:srgbClr val="FFFFFF"/>
                </a:solidFill>
              </a:rPr>
              <a:t>7</a:t>
            </a:r>
            <a:endParaRPr lang="en-GB" sz="1200" b="1" dirty="0">
              <a:solidFill>
                <a:srgbClr val="FFFFFF"/>
              </a:solidFill>
            </a:endParaRPr>
          </a:p>
        </p:txBody>
      </p:sp>
      <p:sp>
        <p:nvSpPr>
          <p:cNvPr id="44" name="Rectangle 8"/>
          <p:cNvSpPr>
            <a:spLocks noChangeArrowheads="1"/>
          </p:cNvSpPr>
          <p:nvPr/>
        </p:nvSpPr>
        <p:spPr bwMode="auto">
          <a:xfrm>
            <a:off x="1489081" y="1941199"/>
            <a:ext cx="6804000" cy="205200"/>
          </a:xfrm>
          <a:prstGeom prst="rect">
            <a:avLst/>
          </a:prstGeom>
          <a:solidFill>
            <a:srgbClr val="CEDDF1"/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167058"/>
            <a:r>
              <a:rPr lang="ru-RU" sz="1200" b="1" dirty="0" smtClean="0">
                <a:solidFill>
                  <a:srgbClr val="373743"/>
                </a:solidFill>
              </a:rPr>
              <a:t>Варианты формирования баланса</a:t>
            </a:r>
            <a:endParaRPr lang="ru-RU" sz="1200" b="1" dirty="0">
              <a:solidFill>
                <a:srgbClr val="373743"/>
              </a:solidFill>
            </a:endParaRPr>
          </a:p>
        </p:txBody>
      </p:sp>
      <p:sp>
        <p:nvSpPr>
          <p:cNvPr id="45" name="Oval 28"/>
          <p:cNvSpPr>
            <a:spLocks noChangeArrowheads="1"/>
          </p:cNvSpPr>
          <p:nvPr/>
        </p:nvSpPr>
        <p:spPr bwMode="auto">
          <a:xfrm>
            <a:off x="1225840" y="1944256"/>
            <a:ext cx="205200" cy="203689"/>
          </a:xfrm>
          <a:prstGeom prst="ellipse">
            <a:avLst/>
          </a:prstGeom>
          <a:solidFill>
            <a:srgbClr val="2172B2"/>
          </a:solidFill>
          <a:ln w="19050">
            <a:noFill/>
            <a:round/>
            <a:headEnd/>
            <a:tailEnd/>
          </a:ln>
        </p:spPr>
        <p:txBody>
          <a:bodyPr wrap="none" lIns="0" tIns="0" rIns="3323" bIns="3323" anchor="ctr" anchorCtr="1"/>
          <a:lstStyle/>
          <a:p>
            <a:pPr algn="ctr">
              <a:buSzPct val="80000"/>
            </a:pPr>
            <a:r>
              <a:rPr lang="ru-RU" sz="1200" b="1" dirty="0">
                <a:solidFill>
                  <a:srgbClr val="FFFFFF"/>
                </a:solidFill>
              </a:rPr>
              <a:t>4</a:t>
            </a:r>
            <a:endParaRPr lang="en-GB" sz="1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808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841239"/>
              </p:ext>
            </p:extLst>
          </p:nvPr>
        </p:nvGraphicFramePr>
        <p:xfrm>
          <a:off x="1072337" y="1205986"/>
          <a:ext cx="7560000" cy="48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000"/>
                <a:gridCol w="540570"/>
                <a:gridCol w="539430"/>
              </a:tblGrid>
              <a:tr h="360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кв.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2" name="Прямоугольник 91"/>
          <p:cNvSpPr/>
          <p:nvPr/>
        </p:nvSpPr>
        <p:spPr>
          <a:xfrm>
            <a:off x="152562" y="6057740"/>
            <a:ext cx="1648956" cy="540733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800100" y="399547"/>
            <a:ext cx="7406685" cy="360000"/>
          </a:xfrm>
        </p:spPr>
        <p:txBody>
          <a:bodyPr/>
          <a:lstStyle/>
          <a:p>
            <a:r>
              <a:rPr lang="ru-RU" dirty="0" smtClean="0"/>
              <a:t>ДОРОЖНЫЕ КАРТЫ </a:t>
            </a:r>
            <a:r>
              <a:rPr lang="ru-RU" dirty="0" smtClean="0"/>
              <a:t>ПРОЕКТОВ: </a:t>
            </a:r>
            <a:r>
              <a:rPr lang="ru-RU" dirty="0"/>
              <a:t>АС ППС, АС </a:t>
            </a:r>
            <a:r>
              <a:rPr lang="ru-RU" dirty="0" smtClean="0"/>
              <a:t>БУ, ЦЕНТРАЛИЗАЦИЯ ПУ</a:t>
            </a:r>
            <a:br>
              <a:rPr lang="ru-RU" dirty="0" smtClean="0"/>
            </a:br>
            <a:r>
              <a:rPr lang="ru-RU" sz="1100" i="1" dirty="0" smtClean="0"/>
              <a:t>(по состоянию на 19.08.2016)</a:t>
            </a:r>
            <a:endParaRPr lang="ru-RU" sz="1100" i="1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15" name="Равнобедренный треугольник 14"/>
          <p:cNvSpPr/>
          <p:nvPr/>
        </p:nvSpPr>
        <p:spPr>
          <a:xfrm>
            <a:off x="1094345" y="2112427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Равнобедренный треугольник 34"/>
          <p:cNvSpPr/>
          <p:nvPr/>
        </p:nvSpPr>
        <p:spPr>
          <a:xfrm>
            <a:off x="3355299" y="2108798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/>
          </a:p>
        </p:txBody>
      </p:sp>
      <p:sp>
        <p:nvSpPr>
          <p:cNvPr id="36" name="Равнобедренный треугольник 35"/>
          <p:cNvSpPr/>
          <p:nvPr/>
        </p:nvSpPr>
        <p:spPr>
          <a:xfrm>
            <a:off x="5538795" y="2108943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/>
          </a:p>
        </p:txBody>
      </p:sp>
      <p:sp>
        <p:nvSpPr>
          <p:cNvPr id="16" name="TextBox 15"/>
          <p:cNvSpPr txBox="1"/>
          <p:nvPr/>
        </p:nvSpPr>
        <p:spPr>
          <a:xfrm>
            <a:off x="1091643" y="2306752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Готовность</a:t>
            </a:r>
            <a:r>
              <a:rPr lang="ru-RU" sz="900" cap="none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ТЗ</a:t>
            </a:r>
          </a:p>
          <a:p>
            <a:pPr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(23.03.2016)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42492" y="2307021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Готовность ПО</a:t>
            </a:r>
          </a:p>
          <a:p>
            <a:pPr algn="ctr">
              <a:lnSpc>
                <a:spcPct val="90000"/>
              </a:lnSpc>
            </a:pPr>
            <a:r>
              <a:rPr lang="ru-RU" sz="7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</a:t>
            </a:r>
            <a:r>
              <a:rPr lang="en-US" sz="7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31.07.</a:t>
            </a:r>
            <a:r>
              <a:rPr lang="ru-RU" sz="7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2017 - </a:t>
            </a:r>
            <a:r>
              <a:rPr lang="ru-RU" sz="7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прогноз в соответствии с  оценками </a:t>
            </a:r>
          </a:p>
          <a:p>
            <a:pPr algn="ctr">
              <a:lnSpc>
                <a:spcPct val="90000"/>
              </a:lnSpc>
            </a:pPr>
            <a:r>
              <a:rPr lang="ru-RU" sz="7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сроков </a:t>
            </a:r>
            <a:r>
              <a:rPr lang="ru-RU" sz="7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з</a:t>
            </a:r>
            <a:r>
              <a:rPr lang="ru-RU" sz="7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авершения работ по ТП)</a:t>
            </a:r>
            <a:endParaRPr lang="ru-RU" sz="700" cap="none" baseline="0" dirty="0" smtClean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32037" y="2322307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Окончание миграции</a:t>
            </a:r>
          </a:p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(31.</a:t>
            </a:r>
            <a:r>
              <a:rPr lang="en-US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03</a:t>
            </a: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.201</a:t>
            </a: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9</a:t>
            </a: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40" name="Равнобедренный треугольник 39"/>
          <p:cNvSpPr/>
          <p:nvPr/>
        </p:nvSpPr>
        <p:spPr>
          <a:xfrm>
            <a:off x="7471181" y="2108780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/>
          </a:p>
        </p:txBody>
      </p:sp>
      <p:sp>
        <p:nvSpPr>
          <p:cNvPr id="41" name="TextBox 40"/>
          <p:cNvSpPr txBox="1"/>
          <p:nvPr/>
        </p:nvSpPr>
        <p:spPr>
          <a:xfrm>
            <a:off x="5438111" y="2322307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Внедрение</a:t>
            </a:r>
          </a:p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(3</a:t>
            </a:r>
            <a:r>
              <a:rPr lang="en-US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1</a:t>
            </a: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.0</a:t>
            </a:r>
            <a:r>
              <a:rPr lang="en-US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7</a:t>
            </a: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.2018)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0" name="Левая фигурная скобка 19"/>
          <p:cNvSpPr/>
          <p:nvPr/>
        </p:nvSpPr>
        <p:spPr>
          <a:xfrm rot="5400000">
            <a:off x="2166809" y="846658"/>
            <a:ext cx="252000" cy="2256268"/>
          </a:xfrm>
          <a:prstGeom prst="leftBrac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1" name="Левая фигурная скобка 60"/>
          <p:cNvSpPr/>
          <p:nvPr/>
        </p:nvSpPr>
        <p:spPr>
          <a:xfrm rot="5400000">
            <a:off x="4394742" y="893928"/>
            <a:ext cx="252000" cy="2160000"/>
          </a:xfrm>
          <a:prstGeom prst="lef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1964455" y="1654044"/>
            <a:ext cx="631281" cy="12782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Разработка ПО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59921" y="1650671"/>
            <a:ext cx="608169" cy="13457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Испытания</a:t>
            </a:r>
            <a:endParaRPr lang="ru-RU" sz="900" cap="none" baseline="0" dirty="0" smtClean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359772" y="1645453"/>
            <a:ext cx="567585" cy="14500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Миграция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63208" y="5681142"/>
            <a:ext cx="306047" cy="14851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0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2016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72451" y="5674957"/>
            <a:ext cx="366780" cy="14815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0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2017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40441" y="5682069"/>
            <a:ext cx="354043" cy="16034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0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2018</a:t>
            </a:r>
          </a:p>
        </p:txBody>
      </p:sp>
      <p:cxnSp>
        <p:nvCxnSpPr>
          <p:cNvPr id="99" name="Прямая со стрелкой 98"/>
          <p:cNvCxnSpPr/>
          <p:nvPr/>
        </p:nvCxnSpPr>
        <p:spPr>
          <a:xfrm flipV="1">
            <a:off x="1066574" y="5493016"/>
            <a:ext cx="7704000" cy="1117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Прямая со стрелкой 144"/>
          <p:cNvCxnSpPr/>
          <p:nvPr/>
        </p:nvCxnSpPr>
        <p:spPr>
          <a:xfrm flipV="1">
            <a:off x="1066942" y="1058959"/>
            <a:ext cx="4016" cy="444591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415398" y="5674957"/>
            <a:ext cx="392537" cy="14815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0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2019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767" y="3296348"/>
            <a:ext cx="842802" cy="24907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900" b="1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ДБУиО-П-4 </a:t>
            </a:r>
          </a:p>
          <a:p>
            <a:pPr>
              <a:lnSpc>
                <a:spcPct val="90000"/>
              </a:lnSpc>
            </a:pPr>
            <a:r>
              <a:rPr lang="ru-RU" sz="900" b="1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Создание АС БУ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411" y="4728080"/>
            <a:ext cx="1009132" cy="26608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900" b="1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ДБУиО-П-5 </a:t>
            </a:r>
          </a:p>
          <a:p>
            <a:pPr>
              <a:lnSpc>
                <a:spcPct val="90000"/>
              </a:lnSpc>
            </a:pPr>
            <a:r>
              <a:rPr lang="ru-RU" sz="850" b="1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Централизация ПУ</a:t>
            </a:r>
          </a:p>
        </p:txBody>
      </p:sp>
      <p:sp>
        <p:nvSpPr>
          <p:cNvPr id="53" name="Прямоугольник 52"/>
          <p:cNvSpPr/>
          <p:nvPr/>
        </p:nvSpPr>
        <p:spPr>
          <a:xfrm>
            <a:off x="139671" y="2116852"/>
            <a:ext cx="850419" cy="3871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900" dirty="0">
              <a:latin typeface="Calibri" panose="020F0502020204030204" pitchFamily="34" charset="0"/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209502" y="2302661"/>
            <a:ext cx="354860" cy="1378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5" name="Прямоугольник 54"/>
          <p:cNvSpPr/>
          <p:nvPr/>
        </p:nvSpPr>
        <p:spPr>
          <a:xfrm>
            <a:off x="594243" y="2302661"/>
            <a:ext cx="353181" cy="137803"/>
          </a:xfrm>
          <a:prstGeom prst="rect">
            <a:avLst/>
          </a:prstGeom>
          <a:solidFill>
            <a:srgbClr val="E7E2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09501" y="2138627"/>
            <a:ext cx="723953" cy="12944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9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Доработка</a:t>
            </a:r>
            <a:endParaRPr lang="ru-RU" sz="900" cap="non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39671" y="1830136"/>
            <a:ext cx="850420" cy="27224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900" b="1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ДНПС-П-1 </a:t>
            </a:r>
          </a:p>
          <a:p>
            <a:pPr>
              <a:lnSpc>
                <a:spcPct val="90000"/>
              </a:lnSpc>
            </a:pPr>
            <a:r>
              <a:rPr lang="ru-RU" sz="900" b="1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Создание АС ППС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4647" y="6081903"/>
            <a:ext cx="561533" cy="8698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Легенда:</a:t>
            </a:r>
            <a:endParaRPr lang="ru-RU" sz="900" cap="non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77486" y="6223021"/>
            <a:ext cx="914400" cy="10522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7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- существенные</a:t>
            </a:r>
            <a:r>
              <a:rPr lang="ru-RU" sz="700" cap="none" dirty="0" smtClean="0">
                <a:solidFill>
                  <a:srgbClr val="000000"/>
                </a:solidFill>
                <a:latin typeface="Calibri" panose="020F0502020204030204" pitchFamily="34" charset="0"/>
              </a:rPr>
              <a:t> изменения</a:t>
            </a:r>
            <a:endParaRPr lang="ru-RU" sz="700" cap="non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77486" y="6449972"/>
            <a:ext cx="914400" cy="9457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7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- не существенные изменения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7486" y="6338854"/>
            <a:ext cx="914400" cy="94578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7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- </a:t>
            </a:r>
            <a:r>
              <a:rPr lang="ru-RU" sz="700" cap="none" dirty="0" smtClean="0">
                <a:solidFill>
                  <a:srgbClr val="000000"/>
                </a:solidFill>
                <a:latin typeface="Calibri" panose="020F0502020204030204" pitchFamily="34" charset="0"/>
              </a:rPr>
              <a:t>изменения</a:t>
            </a:r>
            <a:endParaRPr lang="ru-RU" sz="700" cap="non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96" name="Прямая соединительная линия 95"/>
          <p:cNvCxnSpPr/>
          <p:nvPr/>
        </p:nvCxnSpPr>
        <p:spPr>
          <a:xfrm>
            <a:off x="8629852" y="5455949"/>
            <a:ext cx="0" cy="7200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/>
          <p:nvPr/>
        </p:nvCxnSpPr>
        <p:spPr>
          <a:xfrm>
            <a:off x="11074086" y="5407535"/>
            <a:ext cx="0" cy="1608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Прямоугольник 122"/>
          <p:cNvSpPr/>
          <p:nvPr/>
        </p:nvSpPr>
        <p:spPr>
          <a:xfrm>
            <a:off x="1906910" y="6049935"/>
            <a:ext cx="6863664" cy="54853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5" name="Равнобедренный треугольник 124"/>
          <p:cNvSpPr/>
          <p:nvPr/>
        </p:nvSpPr>
        <p:spPr>
          <a:xfrm>
            <a:off x="2044653" y="6134243"/>
            <a:ext cx="516227" cy="374887"/>
          </a:xfrm>
          <a:prstGeom prst="triangle">
            <a:avLst/>
          </a:prstGeom>
          <a:solidFill>
            <a:srgbClr val="E7E200"/>
          </a:solidFill>
          <a:ln>
            <a:solidFill>
              <a:srgbClr val="00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6" name="TextBox 125"/>
          <p:cNvSpPr txBox="1"/>
          <p:nvPr/>
        </p:nvSpPr>
        <p:spPr>
          <a:xfrm>
            <a:off x="2248120" y="6220037"/>
            <a:ext cx="93427" cy="7726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2400" b="1" cap="none" baseline="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!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99623" y="6142789"/>
            <a:ext cx="5846146" cy="51821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Планируется существенная доработка основных систем (РАБИС, САБС) параллельно под разные задачи</a:t>
            </a:r>
          </a:p>
          <a:p>
            <a:pPr algn="l">
              <a:lnSpc>
                <a:spcPct val="90000"/>
              </a:lnSpc>
            </a:pPr>
            <a:endParaRPr lang="ru-RU" sz="1400" cap="non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30" name="Прямая со стрелкой 129"/>
          <p:cNvCxnSpPr/>
          <p:nvPr/>
        </p:nvCxnSpPr>
        <p:spPr>
          <a:xfrm>
            <a:off x="1067385" y="2104629"/>
            <a:ext cx="7704000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Прямая со стрелкой 131"/>
          <p:cNvCxnSpPr/>
          <p:nvPr/>
        </p:nvCxnSpPr>
        <p:spPr>
          <a:xfrm>
            <a:off x="1070958" y="3543547"/>
            <a:ext cx="7704000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Левая фигурная скобка 133"/>
          <p:cNvSpPr/>
          <p:nvPr/>
        </p:nvSpPr>
        <p:spPr>
          <a:xfrm rot="5400000">
            <a:off x="6456940" y="1009359"/>
            <a:ext cx="252000" cy="1927817"/>
          </a:xfrm>
          <a:prstGeom prst="lef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136" name="Равнобедренный треугольник 135"/>
          <p:cNvSpPr/>
          <p:nvPr/>
        </p:nvSpPr>
        <p:spPr>
          <a:xfrm>
            <a:off x="2616368" y="3547716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7" name="Равнобедренный треугольник 136"/>
          <p:cNvSpPr/>
          <p:nvPr/>
        </p:nvSpPr>
        <p:spPr>
          <a:xfrm>
            <a:off x="3700794" y="3547716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/>
          </a:p>
        </p:txBody>
      </p:sp>
      <p:sp>
        <p:nvSpPr>
          <p:cNvPr id="138" name="Равнобедренный треугольник 137"/>
          <p:cNvSpPr/>
          <p:nvPr/>
        </p:nvSpPr>
        <p:spPr>
          <a:xfrm>
            <a:off x="4583302" y="3547861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/>
          </a:p>
        </p:txBody>
      </p:sp>
      <p:sp>
        <p:nvSpPr>
          <p:cNvPr id="139" name="TextBox 138"/>
          <p:cNvSpPr txBox="1"/>
          <p:nvPr/>
        </p:nvSpPr>
        <p:spPr>
          <a:xfrm>
            <a:off x="2497842" y="3745670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Готовность</a:t>
            </a:r>
            <a:r>
              <a:rPr lang="ru-RU" sz="900" cap="none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ТЗ</a:t>
            </a:r>
          </a:p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(31.03.2017)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3587987" y="3745939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Готовность ПО</a:t>
            </a:r>
          </a:p>
          <a:p>
            <a:pPr algn="ctr"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(30.09</a:t>
            </a:r>
            <a:r>
              <a:rPr lang="en-US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.</a:t>
            </a: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2017)</a:t>
            </a:r>
          </a:p>
        </p:txBody>
      </p:sp>
      <p:sp>
        <p:nvSpPr>
          <p:cNvPr id="141" name="Равнобедренный треугольник 140"/>
          <p:cNvSpPr/>
          <p:nvPr/>
        </p:nvSpPr>
        <p:spPr>
          <a:xfrm>
            <a:off x="5144088" y="3547698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/>
          </a:p>
        </p:txBody>
      </p:sp>
      <p:sp>
        <p:nvSpPr>
          <p:cNvPr id="142" name="Левая фигурная скобка 141"/>
          <p:cNvSpPr/>
          <p:nvPr/>
        </p:nvSpPr>
        <p:spPr>
          <a:xfrm rot="5400000">
            <a:off x="3104740" y="2882709"/>
            <a:ext cx="252000" cy="1062000"/>
          </a:xfrm>
          <a:prstGeom prst="leftBrac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3" name="Левая фигурная скобка 142"/>
          <p:cNvSpPr/>
          <p:nvPr/>
        </p:nvSpPr>
        <p:spPr>
          <a:xfrm rot="5400000">
            <a:off x="4087777" y="2981880"/>
            <a:ext cx="252000" cy="861931"/>
          </a:xfrm>
          <a:prstGeom prst="lef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144" name="TextBox 143"/>
          <p:cNvSpPr txBox="1"/>
          <p:nvPr/>
        </p:nvSpPr>
        <p:spPr>
          <a:xfrm>
            <a:off x="2906308" y="3088029"/>
            <a:ext cx="631281" cy="12782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Разработка ПО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940190" y="3089589"/>
            <a:ext cx="608169" cy="13457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Испытания</a:t>
            </a:r>
            <a:endParaRPr lang="ru-RU" sz="900" cap="none" baseline="0" dirty="0" smtClean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4682471" y="3083248"/>
            <a:ext cx="567585" cy="14500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Миграция</a:t>
            </a:r>
          </a:p>
        </p:txBody>
      </p:sp>
      <p:sp>
        <p:nvSpPr>
          <p:cNvPr id="149" name="Левая фигурная скобка 148"/>
          <p:cNvSpPr/>
          <p:nvPr/>
        </p:nvSpPr>
        <p:spPr>
          <a:xfrm rot="5400000">
            <a:off x="4815215" y="3135173"/>
            <a:ext cx="252000" cy="554026"/>
          </a:xfrm>
          <a:prstGeom prst="lef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150" name="TextBox 149"/>
          <p:cNvSpPr txBox="1"/>
          <p:nvPr/>
        </p:nvSpPr>
        <p:spPr>
          <a:xfrm>
            <a:off x="5088224" y="3746376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Окончание миграции</a:t>
            </a:r>
          </a:p>
          <a:p>
            <a:pPr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(01.</a:t>
            </a:r>
            <a:r>
              <a:rPr lang="en-US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0</a:t>
            </a: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6.2018)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4474458" y="3746376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Внедрение</a:t>
            </a:r>
          </a:p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(01.0</a:t>
            </a:r>
            <a:r>
              <a:rPr lang="ru-RU" sz="9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3</a:t>
            </a: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.2018)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52" name="Левая фигурная скобка 151"/>
          <p:cNvSpPr/>
          <p:nvPr/>
        </p:nvSpPr>
        <p:spPr>
          <a:xfrm rot="5400000">
            <a:off x="2088095" y="2943724"/>
            <a:ext cx="252000" cy="936000"/>
          </a:xfrm>
          <a:prstGeom prst="lef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153" name="TextBox 152"/>
          <p:cNvSpPr txBox="1"/>
          <p:nvPr/>
        </p:nvSpPr>
        <p:spPr>
          <a:xfrm>
            <a:off x="1906910" y="3084656"/>
            <a:ext cx="608169" cy="13457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Разработка ТЗ</a:t>
            </a:r>
            <a:endParaRPr lang="ru-RU" sz="900" cap="none" baseline="0" dirty="0" smtClean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72" name="Равнобедренный треугольник 171"/>
          <p:cNvSpPr/>
          <p:nvPr/>
        </p:nvSpPr>
        <p:spPr>
          <a:xfrm>
            <a:off x="2807578" y="4988556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3" name="Равнобедренный треугольник 172"/>
          <p:cNvSpPr/>
          <p:nvPr/>
        </p:nvSpPr>
        <p:spPr>
          <a:xfrm>
            <a:off x="3890480" y="4988556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/>
          </a:p>
        </p:txBody>
      </p:sp>
      <p:sp>
        <p:nvSpPr>
          <p:cNvPr id="174" name="Равнобедренный треугольник 173"/>
          <p:cNvSpPr/>
          <p:nvPr/>
        </p:nvSpPr>
        <p:spPr>
          <a:xfrm>
            <a:off x="4408752" y="4988701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/>
          </a:p>
        </p:txBody>
      </p:sp>
      <p:sp>
        <p:nvSpPr>
          <p:cNvPr id="175" name="TextBox 174"/>
          <p:cNvSpPr txBox="1"/>
          <p:nvPr/>
        </p:nvSpPr>
        <p:spPr>
          <a:xfrm>
            <a:off x="2621456" y="5186510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Готовность</a:t>
            </a:r>
            <a:r>
              <a:rPr lang="ru-RU" sz="900" cap="none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ТЗ</a:t>
            </a:r>
          </a:p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(30.04.2017)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3623971" y="5186779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Готовность ПО</a:t>
            </a:r>
          </a:p>
          <a:p>
            <a:pPr algn="ctr"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(30.10</a:t>
            </a:r>
            <a:r>
              <a:rPr lang="en-US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.</a:t>
            </a: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2017)</a:t>
            </a:r>
          </a:p>
        </p:txBody>
      </p:sp>
      <p:sp>
        <p:nvSpPr>
          <p:cNvPr id="177" name="Равнобедренный треугольник 176"/>
          <p:cNvSpPr/>
          <p:nvPr/>
        </p:nvSpPr>
        <p:spPr>
          <a:xfrm>
            <a:off x="4957346" y="4988538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/>
          </a:p>
        </p:txBody>
      </p:sp>
      <p:sp>
        <p:nvSpPr>
          <p:cNvPr id="178" name="Левая фигурная скобка 177"/>
          <p:cNvSpPr/>
          <p:nvPr/>
        </p:nvSpPr>
        <p:spPr>
          <a:xfrm rot="5400000">
            <a:off x="3291749" y="4316603"/>
            <a:ext cx="252000" cy="1069354"/>
          </a:xfrm>
          <a:prstGeom prst="leftBrac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79" name="Левая фигурная скобка 178"/>
          <p:cNvSpPr/>
          <p:nvPr/>
        </p:nvSpPr>
        <p:spPr>
          <a:xfrm rot="5400000">
            <a:off x="4093232" y="4600564"/>
            <a:ext cx="252000" cy="504000"/>
          </a:xfrm>
          <a:prstGeom prst="lef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180" name="TextBox 179"/>
          <p:cNvSpPr txBox="1"/>
          <p:nvPr/>
        </p:nvSpPr>
        <p:spPr>
          <a:xfrm>
            <a:off x="2993886" y="4516677"/>
            <a:ext cx="631281" cy="12782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Разработка ПО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801827" y="4513882"/>
            <a:ext cx="608169" cy="13457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Испытания</a:t>
            </a:r>
            <a:endParaRPr lang="ru-RU" sz="900" cap="none" baseline="0" dirty="0" smtClean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4440523" y="4511229"/>
            <a:ext cx="567585" cy="145007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baseline="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Миграция</a:t>
            </a:r>
          </a:p>
        </p:txBody>
      </p:sp>
      <p:sp>
        <p:nvSpPr>
          <p:cNvPr id="183" name="Левая фигурная скобка 182"/>
          <p:cNvSpPr/>
          <p:nvPr/>
        </p:nvSpPr>
        <p:spPr>
          <a:xfrm rot="5400000">
            <a:off x="4628473" y="4588205"/>
            <a:ext cx="252000" cy="529642"/>
          </a:xfrm>
          <a:prstGeom prst="lef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184" name="TextBox 183"/>
          <p:cNvSpPr txBox="1"/>
          <p:nvPr/>
        </p:nvSpPr>
        <p:spPr>
          <a:xfrm>
            <a:off x="4800358" y="5187216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Окончание миграции</a:t>
            </a:r>
          </a:p>
          <a:p>
            <a:pPr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(30.04.2018)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4270412" y="5187216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Внедрение</a:t>
            </a:r>
          </a:p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(31.01.2018)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86" name="Левая фигурная скобка 185"/>
          <p:cNvSpPr/>
          <p:nvPr/>
        </p:nvSpPr>
        <p:spPr>
          <a:xfrm rot="5400000">
            <a:off x="2496191" y="4598897"/>
            <a:ext cx="252000" cy="504000"/>
          </a:xfrm>
          <a:prstGeom prst="lef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187" name="TextBox 186"/>
          <p:cNvSpPr txBox="1"/>
          <p:nvPr/>
        </p:nvSpPr>
        <p:spPr>
          <a:xfrm>
            <a:off x="2256616" y="4525496"/>
            <a:ext cx="608169" cy="13457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Разработка ТЗ</a:t>
            </a:r>
            <a:endParaRPr lang="ru-RU" sz="900" cap="none" baseline="0" dirty="0" smtClean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cxnSp>
        <p:nvCxnSpPr>
          <p:cNvPr id="189" name="Прямая со стрелкой 188"/>
          <p:cNvCxnSpPr/>
          <p:nvPr/>
        </p:nvCxnSpPr>
        <p:spPr>
          <a:xfrm>
            <a:off x="1066574" y="4978564"/>
            <a:ext cx="7704000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Левая фигурная скобка 189"/>
          <p:cNvSpPr/>
          <p:nvPr/>
        </p:nvSpPr>
        <p:spPr>
          <a:xfrm rot="5400000">
            <a:off x="1599320" y="4218832"/>
            <a:ext cx="252000" cy="1261949"/>
          </a:xfrm>
          <a:prstGeom prst="lef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191" name="TextBox 190"/>
          <p:cNvSpPr txBox="1"/>
          <p:nvPr/>
        </p:nvSpPr>
        <p:spPr>
          <a:xfrm>
            <a:off x="1463208" y="4526550"/>
            <a:ext cx="608169" cy="13457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Подготовка</a:t>
            </a:r>
            <a:endParaRPr lang="ru-RU" sz="900" cap="none" baseline="0" dirty="0" smtClean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92" name="Левая фигурная скобка 191"/>
          <p:cNvSpPr/>
          <p:nvPr/>
        </p:nvSpPr>
        <p:spPr>
          <a:xfrm rot="5400000">
            <a:off x="1282482" y="3098696"/>
            <a:ext cx="252000" cy="633677"/>
          </a:xfrm>
          <a:prstGeom prst="lef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193" name="TextBox 192"/>
          <p:cNvSpPr txBox="1"/>
          <p:nvPr/>
        </p:nvSpPr>
        <p:spPr>
          <a:xfrm>
            <a:off x="1132121" y="3084658"/>
            <a:ext cx="608169" cy="13457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900" cap="none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Подготовка</a:t>
            </a:r>
            <a:endParaRPr lang="ru-RU" sz="900" cap="none" baseline="0" dirty="0" smtClean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94" name="Равнобедренный треугольник 193"/>
          <p:cNvSpPr/>
          <p:nvPr/>
        </p:nvSpPr>
        <p:spPr>
          <a:xfrm>
            <a:off x="1663868" y="3547716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5" name="TextBox 194"/>
          <p:cNvSpPr txBox="1"/>
          <p:nvPr/>
        </p:nvSpPr>
        <p:spPr>
          <a:xfrm>
            <a:off x="1545342" y="3745670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Конкурс завершен</a:t>
            </a:r>
            <a:endParaRPr lang="ru-RU" sz="900" cap="none" baseline="0" dirty="0" smtClean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(17.10.2016)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96" name="Равнобедренный треугольник 195"/>
          <p:cNvSpPr/>
          <p:nvPr/>
        </p:nvSpPr>
        <p:spPr>
          <a:xfrm>
            <a:off x="2283311" y="4984960"/>
            <a:ext cx="148281" cy="172995"/>
          </a:xfrm>
          <a:prstGeom prst="triangl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7" name="TextBox 196"/>
          <p:cNvSpPr txBox="1"/>
          <p:nvPr/>
        </p:nvSpPr>
        <p:spPr>
          <a:xfrm>
            <a:off x="2030673" y="5182914"/>
            <a:ext cx="420129" cy="28362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Конкурс завершен</a:t>
            </a:r>
            <a:endParaRPr lang="ru-RU" sz="900" cap="none" baseline="0" dirty="0" smtClean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algn="r">
              <a:lnSpc>
                <a:spcPct val="90000"/>
              </a:lnSpc>
            </a:pPr>
            <a:r>
              <a:rPr lang="ru-RU" sz="900" dirty="0" smtClean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rPr>
              <a:t>(30.01.2017)</a:t>
            </a:r>
            <a:endParaRPr lang="ru-RU" sz="90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cxnSp>
        <p:nvCxnSpPr>
          <p:cNvPr id="198" name="Прямая соединительная линия 197"/>
          <p:cNvCxnSpPr/>
          <p:nvPr/>
        </p:nvCxnSpPr>
        <p:spPr>
          <a:xfrm>
            <a:off x="6475932" y="5462728"/>
            <a:ext cx="0" cy="7200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/>
          <p:cNvCxnSpPr/>
          <p:nvPr/>
        </p:nvCxnSpPr>
        <p:spPr>
          <a:xfrm>
            <a:off x="4308222" y="5466578"/>
            <a:ext cx="0" cy="7200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Прямая соединительная линия 199"/>
          <p:cNvCxnSpPr/>
          <p:nvPr/>
        </p:nvCxnSpPr>
        <p:spPr>
          <a:xfrm>
            <a:off x="2149804" y="5469140"/>
            <a:ext cx="0" cy="7200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Прямоугольник 221"/>
          <p:cNvSpPr/>
          <p:nvPr/>
        </p:nvSpPr>
        <p:spPr>
          <a:xfrm>
            <a:off x="280920" y="6230632"/>
            <a:ext cx="270000" cy="9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23" name="Прямоугольник 222"/>
          <p:cNvSpPr/>
          <p:nvPr/>
        </p:nvSpPr>
        <p:spPr>
          <a:xfrm>
            <a:off x="280886" y="6338854"/>
            <a:ext cx="270000" cy="90000"/>
          </a:xfrm>
          <a:prstGeom prst="rect">
            <a:avLst/>
          </a:prstGeom>
          <a:solidFill>
            <a:srgbClr val="E7E2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24" name="Прямоугольник 223"/>
          <p:cNvSpPr/>
          <p:nvPr/>
        </p:nvSpPr>
        <p:spPr>
          <a:xfrm>
            <a:off x="277569" y="6447469"/>
            <a:ext cx="270000" cy="90000"/>
          </a:xfrm>
          <a:prstGeom prst="rect">
            <a:avLst/>
          </a:prstGeom>
          <a:solidFill>
            <a:srgbClr val="92D05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b="1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460" y="2325088"/>
            <a:ext cx="313215" cy="14181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8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РАБИС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657950" y="2324514"/>
            <a:ext cx="276569" cy="7090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8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</a:p>
        </p:txBody>
      </p:sp>
      <p:sp>
        <p:nvSpPr>
          <p:cNvPr id="234" name="Прямоугольник 233"/>
          <p:cNvSpPr/>
          <p:nvPr/>
        </p:nvSpPr>
        <p:spPr>
          <a:xfrm>
            <a:off x="145323" y="3582216"/>
            <a:ext cx="850419" cy="3871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900" dirty="0">
              <a:latin typeface="Calibri" panose="020F0502020204030204" pitchFamily="34" charset="0"/>
            </a:endParaRPr>
          </a:p>
        </p:txBody>
      </p:sp>
      <p:sp>
        <p:nvSpPr>
          <p:cNvPr id="235" name="Прямоугольник 234"/>
          <p:cNvSpPr/>
          <p:nvPr/>
        </p:nvSpPr>
        <p:spPr>
          <a:xfrm>
            <a:off x="215154" y="3768025"/>
            <a:ext cx="354860" cy="1378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6" name="Прямоугольник 235"/>
          <p:cNvSpPr/>
          <p:nvPr/>
        </p:nvSpPr>
        <p:spPr>
          <a:xfrm>
            <a:off x="599895" y="3768025"/>
            <a:ext cx="353181" cy="1378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215153" y="3603991"/>
            <a:ext cx="723953" cy="12944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9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Доработка</a:t>
            </a:r>
            <a:endParaRPr lang="ru-RU" sz="900" cap="non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38" name="TextBox 237"/>
          <p:cNvSpPr txBox="1"/>
          <p:nvPr/>
        </p:nvSpPr>
        <p:spPr>
          <a:xfrm>
            <a:off x="248112" y="3790452"/>
            <a:ext cx="313215" cy="14181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8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РАБИС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63602" y="3789878"/>
            <a:ext cx="276569" cy="7090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8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</a:p>
        </p:txBody>
      </p:sp>
      <p:sp>
        <p:nvSpPr>
          <p:cNvPr id="240" name="Прямоугольник 239"/>
          <p:cNvSpPr/>
          <p:nvPr/>
        </p:nvSpPr>
        <p:spPr>
          <a:xfrm>
            <a:off x="123855" y="5002427"/>
            <a:ext cx="850419" cy="3871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900" dirty="0">
              <a:latin typeface="Calibri" panose="020F0502020204030204" pitchFamily="34" charset="0"/>
            </a:endParaRPr>
          </a:p>
        </p:txBody>
      </p:sp>
      <p:sp>
        <p:nvSpPr>
          <p:cNvPr id="241" name="Прямоугольник 240"/>
          <p:cNvSpPr/>
          <p:nvPr/>
        </p:nvSpPr>
        <p:spPr>
          <a:xfrm>
            <a:off x="193686" y="5188236"/>
            <a:ext cx="354860" cy="137803"/>
          </a:xfrm>
          <a:prstGeom prst="rect">
            <a:avLst/>
          </a:prstGeom>
          <a:solidFill>
            <a:srgbClr val="92D05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42" name="Прямоугольник 241"/>
          <p:cNvSpPr/>
          <p:nvPr/>
        </p:nvSpPr>
        <p:spPr>
          <a:xfrm>
            <a:off x="578427" y="5186510"/>
            <a:ext cx="353181" cy="1395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6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193685" y="5024202"/>
            <a:ext cx="723953" cy="12944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9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Доработка</a:t>
            </a:r>
            <a:endParaRPr lang="ru-RU" sz="900" cap="non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226644" y="5210663"/>
            <a:ext cx="313215" cy="141812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8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РАБИС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42134" y="5210089"/>
            <a:ext cx="276569" cy="70906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8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</a:p>
        </p:txBody>
      </p:sp>
    </p:spTree>
    <p:extLst>
      <p:ext uri="{BB962C8B-B14F-4D97-AF65-F5344CB8AC3E}">
        <p14:creationId xmlns:p14="http://schemas.microsoft.com/office/powerpoint/2010/main" val="116453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886733" y="2264458"/>
            <a:ext cx="957600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z="2000" smtClean="0"/>
              <a:pPr/>
              <a:t>4</a:t>
            </a:fld>
            <a:endParaRPr lang="ru-RU" sz="2000"/>
          </a:p>
        </p:txBody>
      </p:sp>
      <p:sp>
        <p:nvSpPr>
          <p:cNvPr id="20" name="Заголовок 1"/>
          <p:cNvSpPr>
            <a:spLocks noGrp="1"/>
          </p:cNvSpPr>
          <p:nvPr>
            <p:ph type="title"/>
          </p:nvPr>
        </p:nvSpPr>
        <p:spPr>
          <a:xfrm>
            <a:off x="800100" y="399547"/>
            <a:ext cx="7406685" cy="3600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</a:rPr>
              <a:t>ВЫБОР ВАРИАНТА </a:t>
            </a:r>
            <a:r>
              <a:rPr lang="ru-RU" dirty="0" smtClean="0">
                <a:latin typeface="Calibri" panose="020F0502020204030204" pitchFamily="34" charset="0"/>
              </a:rPr>
              <a:t>ФОРМИРОВАНИЯ БАЛАНСА </a:t>
            </a:r>
            <a:endParaRPr lang="ru-RU" baseline="30000" dirty="0">
              <a:solidFill>
                <a:srgbClr val="FF000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822253" y="2208770"/>
            <a:ext cx="957600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3042" y="2648958"/>
            <a:ext cx="293080" cy="2070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2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(91)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1886733" y="1590531"/>
            <a:ext cx="957600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822253" y="1534843"/>
            <a:ext cx="957600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РАБИС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81084" y="1962317"/>
            <a:ext cx="228600" cy="2070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2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(4)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1931133" y="3862125"/>
            <a:ext cx="961286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0" name="Прямоугольник 29"/>
          <p:cNvSpPr/>
          <p:nvPr/>
        </p:nvSpPr>
        <p:spPr>
          <a:xfrm>
            <a:off x="1866653" y="3806438"/>
            <a:ext cx="957019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САБС-ОПУ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21731" y="4249491"/>
            <a:ext cx="457200" cy="4140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2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(87)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1931133" y="3297631"/>
            <a:ext cx="957600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Прямоугольник 32"/>
          <p:cNvSpPr/>
          <p:nvPr/>
        </p:nvSpPr>
        <p:spPr>
          <a:xfrm>
            <a:off x="1866072" y="3250896"/>
            <a:ext cx="957600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САБС-БПУ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09679" y="3655141"/>
            <a:ext cx="457200" cy="279979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2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(4)</a:t>
            </a:r>
          </a:p>
        </p:txBody>
      </p:sp>
      <p:sp>
        <p:nvSpPr>
          <p:cNvPr id="35" name="Прямоугольник 34"/>
          <p:cNvSpPr/>
          <p:nvPr/>
        </p:nvSpPr>
        <p:spPr>
          <a:xfrm>
            <a:off x="1945345" y="5503851"/>
            <a:ext cx="957600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6" name="Прямоугольник 35"/>
          <p:cNvSpPr/>
          <p:nvPr/>
        </p:nvSpPr>
        <p:spPr>
          <a:xfrm>
            <a:off x="1880865" y="5448163"/>
            <a:ext cx="957600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23891" y="5926728"/>
            <a:ext cx="294261" cy="2070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200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(91)</a:t>
            </a:r>
          </a:p>
        </p:txBody>
      </p:sp>
      <p:sp>
        <p:nvSpPr>
          <p:cNvPr id="38" name="Прямоугольник 37"/>
          <p:cNvSpPr/>
          <p:nvPr/>
        </p:nvSpPr>
        <p:spPr>
          <a:xfrm>
            <a:off x="1945345" y="4949962"/>
            <a:ext cx="957600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САБС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1880865" y="4894274"/>
            <a:ext cx="957600" cy="414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АС БУ</a:t>
            </a:r>
            <a:endParaRPr lang="ru-RU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76532" y="3306832"/>
            <a:ext cx="3723374" cy="5561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000" b="1" cap="none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Плюсы: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минимальные </a:t>
            </a:r>
            <a: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</a:rPr>
              <a:t>доработки ПО САБС </a:t>
            </a: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БПУ и САБС ОПУ</a:t>
            </a:r>
            <a:endParaRPr lang="ru-RU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переход на АС </a:t>
            </a:r>
            <a: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</a:rPr>
              <a:t>ППС и АС </a:t>
            </a: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БУ в соответствии с утвержденными ФТ</a:t>
            </a:r>
            <a:endParaRPr lang="ru-RU" sz="1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процедура интеграции с АС ППС не </a:t>
            </a: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меняется</a:t>
            </a:r>
            <a:endParaRPr lang="ru-RU" sz="1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</a:rPr>
              <a:t>технология расчетов не меняется</a:t>
            </a:r>
            <a:endParaRPr lang="ru-RU" sz="1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порядок тестирования САБС ОПУ и САБС БПУ не </a:t>
            </a: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меняется</a:t>
            </a:r>
            <a:endParaRPr lang="ru-RU" sz="10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13907" y="1497877"/>
            <a:ext cx="3625373" cy="10871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000" b="1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Минусы:</a:t>
            </a:r>
          </a:p>
          <a:p>
            <a:pPr>
              <a:lnSpc>
                <a:spcPct val="90000"/>
              </a:lnSpc>
            </a:pPr>
            <a:endParaRPr lang="ru-RU" sz="1000" b="1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1000" cap="none" baseline="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оработка двух АС: РАБИС</a:t>
            </a: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-НП, САБС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изменение процедуры интеграции с АС ППС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увеличение затрат на тестирование новых интерфейсов взаимодействия на стороне Банка России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единый регламент функционирования БПУ в регламенте всех его ОПУ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*работа сотрудников БПУ в двух АС: </a:t>
            </a:r>
            <a:r>
              <a:rPr lang="ru-RU" sz="10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РАБИС-НП, </a:t>
            </a: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САБС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67007" y="4931735"/>
            <a:ext cx="3852000" cy="6578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000" b="1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Минусы: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дата завершения зависит от проекта ДБУиО-П-4 «Создание АС БУ»</a:t>
            </a:r>
          </a:p>
          <a:p>
            <a:pPr>
              <a:lnSpc>
                <a:spcPct val="90000"/>
              </a:lnSpc>
            </a:pPr>
            <a:endParaRPr lang="ru-RU" sz="1000" b="1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sz="1000" b="1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Плюсы: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0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сокращение затрат на централизацию ПУ за счет синхронизации проектов (от 9 до 60 млн. в зависимости от выбранного варианта)</a:t>
            </a:r>
          </a:p>
        </p:txBody>
      </p:sp>
      <p:cxnSp>
        <p:nvCxnSpPr>
          <p:cNvPr id="50" name="Прямая соединительная линия 49"/>
          <p:cNvCxnSpPr/>
          <p:nvPr/>
        </p:nvCxnSpPr>
        <p:spPr>
          <a:xfrm flipV="1">
            <a:off x="280032" y="2896642"/>
            <a:ext cx="8726907" cy="90689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/>
          <p:cNvCxnSpPr/>
          <p:nvPr/>
        </p:nvCxnSpPr>
        <p:spPr>
          <a:xfrm>
            <a:off x="313124" y="4620435"/>
            <a:ext cx="869306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Прямоугольник 51"/>
          <p:cNvSpPr/>
          <p:nvPr/>
        </p:nvSpPr>
        <p:spPr>
          <a:xfrm>
            <a:off x="228267" y="1768019"/>
            <a:ext cx="14823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b="1" u="sng" dirty="0">
                <a:solidFill>
                  <a:srgbClr val="000000"/>
                </a:solidFill>
                <a:latin typeface="Calibri" panose="020F0502020204030204" pitchFamily="34" charset="0"/>
              </a:rPr>
              <a:t>ВАРИАНТ </a:t>
            </a:r>
            <a:r>
              <a:rPr lang="ru-RU" sz="1000" b="1" u="sng" dirty="0" smtClean="0">
                <a:solidFill>
                  <a:srgbClr val="000000"/>
                </a:solidFill>
                <a:latin typeface="Calibri" panose="020F0502020204030204" pitchFamily="34" charset="0"/>
              </a:rPr>
              <a:t>1 </a:t>
            </a:r>
            <a:r>
              <a:rPr lang="ru-RU" sz="1000" b="1" dirty="0">
                <a:solidFill>
                  <a:srgbClr val="000000"/>
                </a:solidFill>
                <a:latin typeface="Calibri" panose="020F0502020204030204" pitchFamily="34" charset="0"/>
              </a:rPr>
              <a:t>ФОРМИРОВАНИЕ БАЛАНСА В </a:t>
            </a:r>
            <a:r>
              <a:rPr lang="ru-RU" sz="10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РАБИС-НП</a:t>
            </a:r>
          </a:p>
          <a:p>
            <a:pPr algn="ctr"/>
            <a:r>
              <a:rPr lang="ru-RU" sz="1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(см. детали на сл.5) </a:t>
            </a:r>
            <a:endParaRPr lang="ru-RU" sz="1000" b="1" i="1" dirty="0">
              <a:solidFill>
                <a:srgbClr val="000000"/>
              </a:solidFill>
            </a:endParaRPr>
          </a:p>
        </p:txBody>
      </p:sp>
      <p:sp>
        <p:nvSpPr>
          <p:cNvPr id="53" name="Прямоугольник 52"/>
          <p:cNvSpPr/>
          <p:nvPr/>
        </p:nvSpPr>
        <p:spPr>
          <a:xfrm>
            <a:off x="280032" y="3416688"/>
            <a:ext cx="149628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b="1" u="sng" dirty="0" smtClean="0">
                <a:solidFill>
                  <a:srgbClr val="000000"/>
                </a:solidFill>
                <a:latin typeface="Calibri" panose="020F0502020204030204" pitchFamily="34" charset="0"/>
              </a:rPr>
              <a:t>ВАРИАНТ 2 </a:t>
            </a:r>
          </a:p>
          <a:p>
            <a:pPr algn="ctr"/>
            <a:r>
              <a:rPr lang="ru-RU" sz="10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ФОРМИРОВАНИЕ </a:t>
            </a:r>
            <a:r>
              <a:rPr lang="ru-RU" sz="10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БАЛАНСА В САБС В БПУ</a:t>
            </a:r>
          </a:p>
          <a:p>
            <a:pPr algn="ctr"/>
            <a:r>
              <a:rPr lang="ru-RU" sz="1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r>
              <a:rPr lang="ru-RU" sz="1000" b="1" i="1" dirty="0">
                <a:solidFill>
                  <a:srgbClr val="000000"/>
                </a:solidFill>
                <a:latin typeface="Calibri" panose="020F0502020204030204" pitchFamily="34" charset="0"/>
              </a:rPr>
              <a:t>см. детали на </a:t>
            </a:r>
            <a:r>
              <a:rPr lang="ru-RU" sz="1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сл.6) </a:t>
            </a:r>
            <a:endParaRPr lang="ru-RU" sz="1000" b="1" i="1" dirty="0">
              <a:solidFill>
                <a:srgbClr val="000000"/>
              </a:solidFill>
            </a:endParaRPr>
          </a:p>
        </p:txBody>
      </p:sp>
      <p:sp>
        <p:nvSpPr>
          <p:cNvPr id="54" name="Прямоугольник 53"/>
          <p:cNvSpPr/>
          <p:nvPr/>
        </p:nvSpPr>
        <p:spPr>
          <a:xfrm>
            <a:off x="321916" y="5111737"/>
            <a:ext cx="14068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00" b="1" u="sng" dirty="0">
                <a:solidFill>
                  <a:srgbClr val="000000"/>
                </a:solidFill>
                <a:latin typeface="Calibri" panose="020F0502020204030204" pitchFamily="34" charset="0"/>
              </a:rPr>
              <a:t>ВАРИАНТ </a:t>
            </a:r>
            <a:r>
              <a:rPr lang="ru-RU" sz="1000" b="1" u="sng" dirty="0" smtClean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</a:p>
          <a:p>
            <a:pPr algn="ctr"/>
            <a:r>
              <a:rPr lang="ru-RU" sz="10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ФОРМИРОВАНИЕ </a:t>
            </a:r>
            <a:r>
              <a:rPr lang="ru-RU" sz="1000" b="1" dirty="0">
                <a:solidFill>
                  <a:srgbClr val="000000"/>
                </a:solidFill>
                <a:latin typeface="Calibri" panose="020F0502020204030204" pitchFamily="34" charset="0"/>
              </a:rPr>
              <a:t>БАЛАНСА В АС </a:t>
            </a:r>
            <a:r>
              <a:rPr lang="ru-RU" sz="10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БУ</a:t>
            </a:r>
          </a:p>
          <a:p>
            <a:pPr algn="ctr"/>
            <a:r>
              <a:rPr lang="ru-RU" sz="1000" b="1" i="1" dirty="0">
                <a:solidFill>
                  <a:srgbClr val="000000"/>
                </a:solidFill>
                <a:latin typeface="Calibri" panose="020F0502020204030204" pitchFamily="34" charset="0"/>
              </a:rPr>
              <a:t>(см. детали на </a:t>
            </a:r>
            <a:r>
              <a:rPr lang="ru-RU" sz="1000" b="1" i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сл.7) </a:t>
            </a:r>
            <a:endParaRPr lang="ru-RU" sz="1000" b="1" i="1" dirty="0">
              <a:solidFill>
                <a:srgbClr val="000000"/>
              </a:solidFill>
            </a:endParaRPr>
          </a:p>
        </p:txBody>
      </p:sp>
      <p:cxnSp>
        <p:nvCxnSpPr>
          <p:cNvPr id="61" name="Прямая соединительная линия 60"/>
          <p:cNvCxnSpPr/>
          <p:nvPr/>
        </p:nvCxnSpPr>
        <p:spPr>
          <a:xfrm>
            <a:off x="280032" y="1324611"/>
            <a:ext cx="869306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247582" y="5008480"/>
            <a:ext cx="1488443" cy="4572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300" b="1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Стоимость:</a:t>
            </a:r>
          </a:p>
          <a:p>
            <a:pPr algn="l">
              <a:lnSpc>
                <a:spcPct val="90000"/>
              </a:lnSpc>
            </a:pP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40,350 млн</a:t>
            </a: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. руб</a:t>
            </a: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algn="l">
              <a:lnSpc>
                <a:spcPct val="90000"/>
              </a:lnSpc>
            </a:pPr>
            <a:endParaRPr lang="ru-RU" sz="1300" b="1" cap="non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>
              <a:lnSpc>
                <a:spcPct val="90000"/>
              </a:lnSpc>
            </a:pP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Длительность:</a:t>
            </a:r>
          </a:p>
          <a:p>
            <a:pPr algn="l">
              <a:lnSpc>
                <a:spcPct val="90000"/>
              </a:lnSpc>
            </a:pPr>
            <a:r>
              <a:rPr lang="ru-RU" sz="1300" b="1" dirty="0">
                <a:solidFill>
                  <a:srgbClr val="000000"/>
                </a:solidFill>
                <a:latin typeface="Calibri" panose="020F0502020204030204" pitchFamily="34" charset="0"/>
              </a:rPr>
              <a:t>в</a:t>
            </a: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недрение </a:t>
            </a:r>
            <a:r>
              <a:rPr lang="ru-RU" sz="1300" b="1" cap="none" dirty="0" smtClean="0">
                <a:solidFill>
                  <a:srgbClr val="000000"/>
                </a:solidFill>
                <a:latin typeface="Calibri" panose="020F0502020204030204" pitchFamily="34" charset="0"/>
              </a:rPr>
              <a:t>АС БУ</a:t>
            </a:r>
            <a:endParaRPr lang="ru-RU" sz="1300" b="1" cap="non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219007" y="3457896"/>
            <a:ext cx="1488443" cy="4572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300" b="1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Стоимость:</a:t>
            </a:r>
          </a:p>
          <a:p>
            <a:pPr algn="l">
              <a:lnSpc>
                <a:spcPct val="90000"/>
              </a:lnSpc>
            </a:pP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32,200 млн</a:t>
            </a: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. руб</a:t>
            </a: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algn="l">
              <a:lnSpc>
                <a:spcPct val="90000"/>
              </a:lnSpc>
            </a:pPr>
            <a:endParaRPr lang="ru-RU" sz="1300" b="1" cap="non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ru-RU" sz="1300" b="1" dirty="0">
                <a:solidFill>
                  <a:srgbClr val="000000"/>
                </a:solidFill>
                <a:latin typeface="Calibri" panose="020F0502020204030204" pitchFamily="34" charset="0"/>
              </a:rPr>
              <a:t>Длительность – 12 мес.</a:t>
            </a:r>
          </a:p>
          <a:p>
            <a:pPr algn="l">
              <a:lnSpc>
                <a:spcPct val="90000"/>
              </a:lnSpc>
            </a:pPr>
            <a:endParaRPr lang="ru-RU" sz="1300" b="1" cap="non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209656" y="1768703"/>
            <a:ext cx="1488443" cy="457200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300" b="1" cap="none" baseline="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Стоимость:</a:t>
            </a:r>
          </a:p>
          <a:p>
            <a:pPr algn="l">
              <a:lnSpc>
                <a:spcPct val="90000"/>
              </a:lnSpc>
            </a:pP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86,828 млн</a:t>
            </a: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. руб</a:t>
            </a: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</a:p>
          <a:p>
            <a:pPr algn="l">
              <a:lnSpc>
                <a:spcPct val="90000"/>
              </a:lnSpc>
            </a:pPr>
            <a:endParaRPr lang="ru-RU" sz="1300" b="1" cap="non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>
              <a:lnSpc>
                <a:spcPct val="90000"/>
              </a:lnSpc>
            </a:pPr>
            <a:r>
              <a:rPr lang="ru-RU" sz="13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Длительность – 12 мес.</a:t>
            </a:r>
            <a:endParaRPr lang="ru-RU" sz="1300" b="1" cap="none" baseline="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5" name="Прямая соединительная линия 64"/>
          <p:cNvCxnSpPr/>
          <p:nvPr/>
        </p:nvCxnSpPr>
        <p:spPr>
          <a:xfrm>
            <a:off x="313123" y="6251258"/>
            <a:ext cx="8693067" cy="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42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4"/>
          <a:srcRect r="4340"/>
          <a:stretch/>
        </p:blipFill>
        <p:spPr>
          <a:xfrm>
            <a:off x="257430" y="880640"/>
            <a:ext cx="8534145" cy="4396973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z="2000" smtClean="0"/>
              <a:pPr/>
              <a:t>5</a:t>
            </a:fld>
            <a:endParaRPr lang="ru-RU" sz="2000"/>
          </a:p>
        </p:txBody>
      </p:sp>
      <p:sp>
        <p:nvSpPr>
          <p:cNvPr id="6" name="TextBox 5"/>
          <p:cNvSpPr txBox="1"/>
          <p:nvPr/>
        </p:nvSpPr>
        <p:spPr>
          <a:xfrm>
            <a:off x="2165464" y="1026828"/>
            <a:ext cx="2142194" cy="10767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Ф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ункции:</a:t>
            </a:r>
          </a:p>
          <a:p>
            <a:pPr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бухгалтерского учета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составление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бухгалтерской (финансовой) отчетности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едение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книги открытых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счетов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658" y="2403679"/>
            <a:ext cx="2094274" cy="135089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Функции:</a:t>
            </a:r>
          </a:p>
          <a:p>
            <a:pPr algn="l"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обслуживание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клиентов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оформление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и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контроль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эмиссионных и кассовых операций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осуществление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расчетных операций с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применением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авизо </a:t>
            </a: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658" y="3979711"/>
            <a:ext cx="2166167" cy="12214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Функции:</a:t>
            </a:r>
          </a:p>
          <a:p>
            <a:pPr algn="l"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обслуживание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клиентов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оформление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и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контроль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эмиссионных и кассовых операций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осуществление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расчетных операций с применением авизо </a:t>
            </a: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986344"/>
              </p:ext>
            </p:extLst>
          </p:nvPr>
        </p:nvGraphicFramePr>
        <p:xfrm>
          <a:off x="257430" y="5310566"/>
          <a:ext cx="4695572" cy="14888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77409"/>
                <a:gridCol w="1365412"/>
                <a:gridCol w="1457325"/>
                <a:gridCol w="1495426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 smtClean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№ </a:t>
                      </a:r>
                      <a:r>
                        <a:rPr lang="ru-RU" sz="10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п/п</a:t>
                      </a:r>
                      <a:endParaRPr lang="en-GB" sz="10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en-GB" sz="10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Без</a:t>
                      </a:r>
                      <a:r>
                        <a:rPr lang="ru-RU" sz="1000" b="1" kern="1200" baseline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 организации рабочих мест в РАБИС-НП в БПУ, руб.</a:t>
                      </a:r>
                      <a:endParaRPr lang="en-GB" sz="10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lang="ru-RU" sz="1000" b="1" kern="1200" baseline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 организацией рабочих мест в РАБИС-НП в БПУ, руб.*</a:t>
                      </a:r>
                      <a:endParaRPr lang="en-GB" sz="10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0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Доработка РАБИС-НП</a:t>
                      </a:r>
                      <a:endParaRPr lang="ru-RU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49 578 438</a:t>
                      </a:r>
                      <a:endParaRPr lang="ru-RU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37 575 237</a:t>
                      </a:r>
                      <a:endParaRPr lang="ru-RU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Доработка </a:t>
                      </a:r>
                      <a:r>
                        <a:rPr lang="ru-RU" sz="10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САБС</a:t>
                      </a:r>
                      <a:endParaRPr lang="ru-RU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37 250 000</a:t>
                      </a:r>
                      <a:endParaRPr lang="ru-RU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36 250 000</a:t>
                      </a:r>
                      <a:endParaRPr lang="ru-RU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0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КТС для РАБИС-НП</a:t>
                      </a:r>
                      <a:endParaRPr lang="ru-RU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2 000 000</a:t>
                      </a:r>
                      <a:endParaRPr lang="ru-RU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10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1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ИТОГО</a:t>
                      </a:r>
                      <a:r>
                        <a:rPr lang="ru-RU" sz="10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ru-RU" sz="10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86 828 438</a:t>
                      </a:r>
                      <a:endParaRPr lang="ru-RU" sz="10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75 825 237</a:t>
                      </a:r>
                      <a:endParaRPr lang="ru-RU" sz="10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67300" y="5310566"/>
            <a:ext cx="3822700" cy="10871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b="1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Минусы: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д</a:t>
            </a:r>
            <a:r>
              <a:rPr lang="ru-RU" sz="1100" cap="none" baseline="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оработка двух АС: РАБИС</a:t>
            </a: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-НП, САБС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изменение процедуры интеграции с АС ППС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увеличение затрат на тестирование новых интерфейсов взаимодействия на стороне Банка России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единый регламент функционирования БПУ в регламенте всех его ОПУ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*работа сотрудников БПУ в двух АС: </a:t>
            </a:r>
            <a:r>
              <a:rPr lang="ru-RU" sz="1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РАБИС-НП, </a:t>
            </a: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САБС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7658" y="2403679"/>
            <a:ext cx="2060661" cy="12569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Добавляется:</a:t>
            </a:r>
          </a:p>
          <a:p>
            <a:pPr>
              <a:lnSpc>
                <a:spcPct val="90000"/>
              </a:lnSpc>
            </a:pPr>
            <a:endParaRPr lang="ru-RU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управление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ОИТУ РАБИС-НП (*могут быть реализованы в САБС)</a:t>
            </a:r>
            <a:endParaRPr lang="ru-RU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взаимодействие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 РАБИС-НП с использованием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ЭС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п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ечать результатов обработки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6144" y="2413204"/>
            <a:ext cx="2323856" cy="9726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Удаляется:</a:t>
            </a:r>
          </a:p>
          <a:p>
            <a:pPr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бухгалтерского учета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составление бухгалтерской (финансовой) отчетности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книги открытых счетов</a:t>
            </a:r>
          </a:p>
          <a:p>
            <a:pPr>
              <a:lnSpc>
                <a:spcPct val="90000"/>
              </a:lnSpc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algn="l">
              <a:lnSpc>
                <a:spcPct val="90000"/>
              </a:lnSpc>
            </a:pPr>
            <a:endParaRPr lang="ru-RU" sz="1100" cap="none" baseline="0" dirty="0" smtClean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15896" y="1040352"/>
            <a:ext cx="1826501" cy="9725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Добавляется: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взаимодействие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САБС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РАБИС-НП посредством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7658" y="3983352"/>
            <a:ext cx="2123759" cy="97428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Добавляется:</a:t>
            </a:r>
          </a:p>
          <a:p>
            <a:pPr>
              <a:lnSpc>
                <a:spcPct val="90000"/>
              </a:lnSpc>
            </a:pPr>
            <a:endParaRPr lang="ru-RU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взаимодействие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 РАБИС-НП с использованием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ЭС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печать результатов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обработки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algn="l">
              <a:lnSpc>
                <a:spcPct val="90000"/>
              </a:lnSpc>
            </a:pPr>
            <a:endParaRPr lang="ru-RU" sz="1100" cap="none" baseline="0" dirty="0" smtClean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66144" y="3979711"/>
            <a:ext cx="2171456" cy="958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Удаляется: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бухгалтерского учета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составление бухгалтерской (финансовой) отчетности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книги открытых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счетов</a:t>
            </a:r>
            <a:endParaRPr lang="ru-RU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0" name="Заголовок 1"/>
          <p:cNvSpPr>
            <a:spLocks noGrp="1"/>
          </p:cNvSpPr>
          <p:nvPr>
            <p:ph type="title"/>
          </p:nvPr>
        </p:nvSpPr>
        <p:spPr>
          <a:xfrm>
            <a:off x="800100" y="399547"/>
            <a:ext cx="7406685" cy="3600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</a:rPr>
              <a:t>ВЫБОР ВАРИАНТА </a:t>
            </a:r>
            <a:r>
              <a:rPr lang="ru-RU" dirty="0" smtClean="0">
                <a:latin typeface="Calibri" panose="020F0502020204030204" pitchFamily="34" charset="0"/>
              </a:rPr>
              <a:t>ФОРМИРОВАНИЯ БАЛАНСА </a:t>
            </a:r>
            <a:br>
              <a:rPr lang="ru-RU" dirty="0" smtClean="0">
                <a:latin typeface="Calibri" panose="020F0502020204030204" pitchFamily="34" charset="0"/>
              </a:rPr>
            </a:br>
            <a:r>
              <a:rPr lang="ru-RU" dirty="0" smtClean="0">
                <a:latin typeface="Calibri" panose="020F0502020204030204" pitchFamily="34" charset="0"/>
              </a:rPr>
              <a:t>ВАРИАНТ 1 - ФОРМИРОВАНИЕ </a:t>
            </a:r>
            <a:r>
              <a:rPr lang="ru-RU" dirty="0">
                <a:latin typeface="Calibri" panose="020F0502020204030204" pitchFamily="34" charset="0"/>
              </a:rPr>
              <a:t>БАЛАНСА В </a:t>
            </a:r>
            <a:r>
              <a:rPr lang="ru-RU" dirty="0" smtClean="0">
                <a:latin typeface="Calibri" panose="020F0502020204030204" pitchFamily="34" charset="0"/>
              </a:rPr>
              <a:t>РАБИС-НП</a:t>
            </a:r>
            <a:endParaRPr lang="ru-RU" baseline="30000" dirty="0">
              <a:solidFill>
                <a:srgbClr val="FF0000"/>
              </a:solidFill>
            </a:endParaRPr>
          </a:p>
        </p:txBody>
      </p:sp>
      <p:pic>
        <p:nvPicPr>
          <p:cNvPr id="1195" name="Рисунок 11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76" y="3271227"/>
            <a:ext cx="1003049" cy="291123"/>
          </a:xfrm>
          <a:prstGeom prst="rect">
            <a:avLst/>
          </a:prstGeom>
        </p:spPr>
      </p:pic>
      <p:pic>
        <p:nvPicPr>
          <p:cNvPr id="366" name="Рисунок 36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26" y="4577758"/>
            <a:ext cx="1003049" cy="29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12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/>
          <a:srcRect r="4711"/>
          <a:stretch/>
        </p:blipFill>
        <p:spPr>
          <a:xfrm>
            <a:off x="268366" y="891061"/>
            <a:ext cx="8523209" cy="4408417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916360" y="2379912"/>
            <a:ext cx="3912941" cy="13054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Функции:</a:t>
            </a:r>
          </a:p>
          <a:p>
            <a:pPr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обслуживание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клиентов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оформление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и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контроль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эмиссионных и кассовых операций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осуществление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расчетных операций с применением авизо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бухгалтерского учета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составление бухгалтерской (финансовой) отчетности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книги открытых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счетов</a:t>
            </a:r>
            <a:endParaRPr lang="ru-RU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16360" y="3954465"/>
            <a:ext cx="2712790" cy="11875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Функции:</a:t>
            </a:r>
          </a:p>
          <a:p>
            <a:pPr algn="l"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бслуживание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клиентов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оформление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и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контроль эмиссионных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и кассовых операций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осуществление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расчетных операций с применением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авизо</a:t>
            </a:r>
            <a:endParaRPr lang="ru-RU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508946"/>
              </p:ext>
            </p:extLst>
          </p:nvPr>
        </p:nvGraphicFramePr>
        <p:xfrm>
          <a:off x="268366" y="5446685"/>
          <a:ext cx="3377515" cy="11758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3087"/>
                <a:gridCol w="2026504"/>
                <a:gridCol w="897924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№ </a:t>
                      </a:r>
                      <a:r>
                        <a:rPr lang="ru-RU" sz="11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п/п</a:t>
                      </a:r>
                      <a:endParaRPr lang="en-GB" sz="11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en-GB" sz="11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Стоимость, руб.</a:t>
                      </a:r>
                      <a:endParaRPr lang="en-GB" sz="11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1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Доработка САБС БПУ и САБС</a:t>
                      </a:r>
                      <a:r>
                        <a:rPr lang="ru-RU" sz="110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ОПУ</a:t>
                      </a:r>
                      <a:endParaRPr lang="ru-RU" sz="11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32 000 000</a:t>
                      </a:r>
                      <a:endParaRPr lang="ru-RU" sz="11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КТС для</a:t>
                      </a:r>
                      <a:r>
                        <a:rPr lang="ru-RU" sz="110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САБС БПУ </a:t>
                      </a:r>
                      <a:endParaRPr lang="ru-RU" sz="11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3 200 000</a:t>
                      </a:r>
                      <a:endParaRPr lang="ru-RU" sz="11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ИТОГО:</a:t>
                      </a:r>
                      <a:endParaRPr lang="ru-RU" sz="11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35 200 000</a:t>
                      </a:r>
                      <a:endParaRPr lang="ru-RU" sz="11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791037" y="5442549"/>
            <a:ext cx="4991613" cy="55612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b="1" cap="none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Плюсы: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минимальные </a:t>
            </a:r>
            <a:r>
              <a:rPr lang="ru-RU" sz="1100" dirty="0">
                <a:solidFill>
                  <a:srgbClr val="000000"/>
                </a:solidFill>
                <a:latin typeface="Calibri" panose="020F0502020204030204" pitchFamily="34" charset="0"/>
              </a:rPr>
              <a:t>доработки ПО САБС </a:t>
            </a: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БПУ и САБС ОПУ</a:t>
            </a:r>
            <a:endParaRPr lang="ru-RU" sz="1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переход на АС </a:t>
            </a:r>
            <a:r>
              <a:rPr lang="ru-RU" sz="1100" dirty="0">
                <a:solidFill>
                  <a:srgbClr val="000000"/>
                </a:solidFill>
                <a:latin typeface="Calibri" panose="020F0502020204030204" pitchFamily="34" charset="0"/>
              </a:rPr>
              <a:t>ППС и АС </a:t>
            </a: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БУ в соответствии с утвержденными ФТ</a:t>
            </a:r>
            <a:endParaRPr lang="ru-RU" sz="11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процедура интеграции с АС ППС не </a:t>
            </a: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меняется</a:t>
            </a:r>
            <a:endParaRPr lang="ru-RU" sz="1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000000"/>
                </a:solidFill>
                <a:latin typeface="Calibri" panose="020F0502020204030204" pitchFamily="34" charset="0"/>
              </a:rPr>
              <a:t>технология расчетов не меняется</a:t>
            </a:r>
            <a:endParaRPr lang="ru-RU" sz="1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порядок тестирования САБС ОПУ и САБС БПУ не </a:t>
            </a: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меняется</a:t>
            </a:r>
            <a:endParaRPr lang="ru-RU" sz="11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0077" y="3954465"/>
            <a:ext cx="2140735" cy="10105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Удаляются:</a:t>
            </a:r>
          </a:p>
          <a:p>
            <a:pPr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бухгалтерского учета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составление бухгалтерской (финансовой) отчетности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книги открытых счетов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algn="l">
              <a:lnSpc>
                <a:spcPct val="90000"/>
              </a:lnSpc>
            </a:pPr>
            <a:endParaRPr lang="ru-RU" sz="1100" cap="none" baseline="0" dirty="0" smtClean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99052" y="2379912"/>
            <a:ext cx="1996704" cy="5267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Добавляется:</a:t>
            </a:r>
          </a:p>
          <a:p>
            <a:pPr algn="l"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Взаимодействие с САБС ОПУ с использованием ЭС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746" y="3954465"/>
            <a:ext cx="1880165" cy="5267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Добавляется:</a:t>
            </a:r>
          </a:p>
          <a:p>
            <a:pPr algn="l"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взаимодействие с САБС БПУ с использованием ЭС</a:t>
            </a:r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800100" y="399547"/>
            <a:ext cx="7406685" cy="3600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</a:rPr>
              <a:t>ВЫБОР ВАРИАНТА </a:t>
            </a:r>
            <a:r>
              <a:rPr lang="ru-RU" dirty="0" smtClean="0">
                <a:latin typeface="Calibri" panose="020F0502020204030204" pitchFamily="34" charset="0"/>
              </a:rPr>
              <a:t>ФОРМИРОВАНИЯ </a:t>
            </a:r>
            <a:r>
              <a:rPr lang="ru-RU" dirty="0">
                <a:latin typeface="Calibri" panose="020F0502020204030204" pitchFamily="34" charset="0"/>
              </a:rPr>
              <a:t>БАЛАНСА</a:t>
            </a:r>
            <a:br>
              <a:rPr lang="ru-RU" dirty="0">
                <a:latin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</a:rPr>
              <a:t>ВАРИАНТ </a:t>
            </a:r>
            <a:r>
              <a:rPr lang="ru-RU" dirty="0" smtClean="0">
                <a:latin typeface="Calibri" panose="020F0502020204030204" pitchFamily="34" charset="0"/>
              </a:rPr>
              <a:t>2 - </a:t>
            </a:r>
            <a:r>
              <a:rPr lang="ru-RU" dirty="0">
                <a:latin typeface="Calibri" panose="020F0502020204030204" pitchFamily="34" charset="0"/>
              </a:rPr>
              <a:t>ФОРМИРОВАНИЕ БАЛАНСА В ТПК САБС В БПУ</a:t>
            </a:r>
          </a:p>
        </p:txBody>
      </p:sp>
    </p:spTree>
    <p:extLst>
      <p:ext uri="{BB962C8B-B14F-4D97-AF65-F5344CB8AC3E}">
        <p14:creationId xmlns:p14="http://schemas.microsoft.com/office/powerpoint/2010/main" val="2206235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66" y="995167"/>
            <a:ext cx="8281217" cy="4061899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7</a:t>
            </a:fld>
            <a:endParaRPr lang="ru-RU"/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344997"/>
              </p:ext>
            </p:extLst>
          </p:nvPr>
        </p:nvGraphicFramePr>
        <p:xfrm>
          <a:off x="268366" y="5216314"/>
          <a:ext cx="3377515" cy="92377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3087"/>
                <a:gridCol w="2026504"/>
                <a:gridCol w="897924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№ </a:t>
                      </a:r>
                      <a:r>
                        <a:rPr lang="ru-RU" sz="11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п/п</a:t>
                      </a:r>
                      <a:endParaRPr lang="en-GB" sz="11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en-GB" sz="11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Стоимость, руб.</a:t>
                      </a:r>
                      <a:endParaRPr lang="en-GB" sz="11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1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Доработка САБС БПУ и САБС</a:t>
                      </a:r>
                      <a:r>
                        <a:rPr lang="ru-RU" sz="110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ОПУ</a:t>
                      </a:r>
                      <a:endParaRPr lang="ru-RU" sz="11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40 350 000</a:t>
                      </a:r>
                      <a:endParaRPr lang="ru-RU" sz="11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ИТОГО:</a:t>
                      </a:r>
                      <a:endParaRPr lang="ru-RU" sz="11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40 350 000</a:t>
                      </a:r>
                      <a:endParaRPr lang="ru-RU" sz="11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</a:tbl>
          </a:graphicData>
        </a:graphic>
      </p:graphicFrame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800100" y="399547"/>
            <a:ext cx="7406685" cy="3600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</a:rPr>
              <a:t>ВЫБОР ВАРИАНТА </a:t>
            </a:r>
            <a:r>
              <a:rPr lang="ru-RU" dirty="0" smtClean="0">
                <a:latin typeface="Calibri" panose="020F0502020204030204" pitchFamily="34" charset="0"/>
              </a:rPr>
              <a:t>ФОРМИРОВАНИЯ </a:t>
            </a:r>
            <a:r>
              <a:rPr lang="ru-RU" dirty="0">
                <a:latin typeface="Calibri" panose="020F0502020204030204" pitchFamily="34" charset="0"/>
              </a:rPr>
              <a:t>БАЛАНСА</a:t>
            </a:r>
            <a:br>
              <a:rPr lang="ru-RU" dirty="0">
                <a:latin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</a:rPr>
              <a:t>ВАРИАНТ </a:t>
            </a:r>
            <a:r>
              <a:rPr lang="ru-RU" dirty="0" smtClean="0">
                <a:latin typeface="Calibri" panose="020F0502020204030204" pitchFamily="34" charset="0"/>
              </a:rPr>
              <a:t>3 - </a:t>
            </a:r>
            <a:r>
              <a:rPr lang="ru-RU" dirty="0">
                <a:latin typeface="Calibri" panose="020F0502020204030204" pitchFamily="34" charset="0"/>
              </a:rPr>
              <a:t>ФОРМИРОВАНИЕ БАЛАНСА В </a:t>
            </a:r>
            <a:r>
              <a:rPr lang="ru-RU" dirty="0" smtClean="0">
                <a:latin typeface="Calibri" panose="020F0502020204030204" pitchFamily="34" charset="0"/>
              </a:rPr>
              <a:t>АС БУ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16360" y="1028699"/>
            <a:ext cx="2142194" cy="10767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Ф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ункции:</a:t>
            </a:r>
          </a:p>
          <a:p>
            <a:pPr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бухгалтерского учета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составление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бухгалтерской (финансовой) отчетности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едение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книги открытых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счетов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взаимодействие САБС БПУ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и САБС ОПУ посредством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ЭС</a:t>
            </a:r>
          </a:p>
          <a:p>
            <a:pPr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16360" y="2330918"/>
            <a:ext cx="2094274" cy="135089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Функции:</a:t>
            </a:r>
          </a:p>
          <a:p>
            <a:pPr algn="l"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обслуживание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клиентов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оформление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и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контроль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эмиссионных и кассовых операций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осуществление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расчетных операций с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применением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авизо </a:t>
            </a: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75360" y="2330918"/>
            <a:ext cx="2060661" cy="12569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Добавляется:</a:t>
            </a:r>
          </a:p>
          <a:p>
            <a:pPr>
              <a:lnSpc>
                <a:spcPct val="90000"/>
              </a:lnSpc>
            </a:pPr>
            <a:endParaRPr lang="ru-RU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взаимодействие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АС БУ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 использованием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ЭС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п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ечать результатов обработки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846" y="2311868"/>
            <a:ext cx="2323856" cy="97269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Удаляется:</a:t>
            </a:r>
          </a:p>
          <a:p>
            <a:pPr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бухгалтерского учета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составление бухгалтерской (финансовой) отчетности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книги открытых счетов</a:t>
            </a:r>
          </a:p>
          <a:p>
            <a:pPr>
              <a:lnSpc>
                <a:spcPct val="90000"/>
              </a:lnSpc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algn="l">
              <a:lnSpc>
                <a:spcPct val="90000"/>
              </a:lnSpc>
            </a:pPr>
            <a:endParaRPr lang="ru-RU" sz="1100" cap="none" baseline="0" dirty="0" smtClean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989091" y="3771061"/>
            <a:ext cx="2166167" cy="12214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Функции:</a:t>
            </a:r>
          </a:p>
          <a:p>
            <a:pPr algn="l"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обслуживание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клиентов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оформление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и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контроль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эмиссионных и кассовых операций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осуществление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расчетных операций с применением авизо </a:t>
            </a: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56349" y="3671874"/>
            <a:ext cx="2123759" cy="97428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Добавляется:</a:t>
            </a:r>
          </a:p>
          <a:p>
            <a:pPr>
              <a:lnSpc>
                <a:spcPct val="90000"/>
              </a:lnSpc>
            </a:pPr>
            <a:endParaRPr lang="ru-RU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взаимодействие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АС БУ </a:t>
            </a: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 использованием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ЭС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печать результатов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обработки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algn="l">
              <a:lnSpc>
                <a:spcPct val="90000"/>
              </a:lnSpc>
            </a:pPr>
            <a:endParaRPr lang="ru-RU" sz="1100" cap="none" baseline="0" dirty="0" smtClean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8673" y="3771061"/>
            <a:ext cx="2171456" cy="88619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Удаляется:</a:t>
            </a:r>
          </a:p>
          <a:p>
            <a:pPr>
              <a:lnSpc>
                <a:spcPct val="90000"/>
              </a:lnSpc>
            </a:pPr>
            <a:endParaRPr lang="ru-RU" sz="110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бухгалтерского учета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составление бухгалтерской (финансовой) отчетности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ведение книги открытых </a:t>
            </a:r>
            <a:r>
              <a:rPr lang="ru-RU" sz="110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счетов</a:t>
            </a:r>
            <a:endParaRPr lang="ru-RU" sz="1100" dirty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849349" y="5216314"/>
            <a:ext cx="4808353" cy="6578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100" b="1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Минусы: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дата завершения зависит от проекта ДБУиО-П-4 «Создание АС БУ»</a:t>
            </a:r>
          </a:p>
          <a:p>
            <a:pPr>
              <a:lnSpc>
                <a:spcPct val="90000"/>
              </a:lnSpc>
            </a:pPr>
            <a:endParaRPr lang="ru-RU" sz="1100" b="1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sz="1100" b="1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Плюсы: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1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сокращение затрат на централизацию ПУ за счет синхронизации проектов (от 9 до 60 млн. в зависимости от выбранного варианта)</a:t>
            </a:r>
          </a:p>
        </p:txBody>
      </p:sp>
    </p:spTree>
    <p:extLst>
      <p:ext uri="{BB962C8B-B14F-4D97-AF65-F5344CB8AC3E}">
        <p14:creationId xmlns:p14="http://schemas.microsoft.com/office/powerpoint/2010/main" val="74022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8</a:t>
            </a:fld>
            <a:endParaRPr lang="ru-RU"/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220348"/>
              </p:ext>
            </p:extLst>
          </p:nvPr>
        </p:nvGraphicFramePr>
        <p:xfrm>
          <a:off x="253901" y="1134622"/>
          <a:ext cx="8550032" cy="25040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8426"/>
                <a:gridCol w="1596402"/>
                <a:gridCol w="1698299"/>
                <a:gridCol w="1868129"/>
                <a:gridCol w="1499388"/>
                <a:gridCol w="1499388"/>
              </a:tblGrid>
              <a:tr h="228141">
                <a:tc rowSpan="2"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п/п</a:t>
                      </a:r>
                      <a:endParaRPr lang="en-GB" sz="12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2B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en-GB" sz="12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2B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Вариант 1 - </a:t>
                      </a:r>
                      <a:r>
                        <a:rPr lang="ru-RU" sz="12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Формирование баланса в</a:t>
                      </a:r>
                      <a:r>
                        <a:rPr lang="ru-RU" sz="1200" b="1" kern="1200" baseline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 РАБИС-НП </a:t>
                      </a:r>
                      <a:endParaRPr lang="en-GB" sz="12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2B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Вариант 2 -</a:t>
                      </a:r>
                    </a:p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Формирование баланса в</a:t>
                      </a:r>
                      <a:r>
                        <a:rPr lang="ru-RU" sz="1200" b="1" kern="1200" baseline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 САБС БПУ, руб.</a:t>
                      </a:r>
                      <a:endParaRPr lang="en-GB" sz="12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2B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Вариант 3 -</a:t>
                      </a:r>
                    </a:p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Формирование баланса в</a:t>
                      </a:r>
                      <a:r>
                        <a:rPr lang="ru-RU" sz="1200" b="1" kern="1200" baseline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 АС БУ, руб.</a:t>
                      </a:r>
                      <a:endParaRPr lang="en-GB" sz="12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2B2"/>
                    </a:solidFill>
                  </a:tcPr>
                </a:tc>
              </a:tr>
              <a:tr h="540334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Без</a:t>
                      </a:r>
                      <a:r>
                        <a:rPr lang="ru-RU" sz="1200" b="1" kern="1200" baseline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 организации рабочих мест в РАБИС-НП в БПУ, руб.</a:t>
                      </a:r>
                      <a:endParaRPr lang="en-GB" sz="12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С</a:t>
                      </a:r>
                      <a:r>
                        <a:rPr lang="ru-RU" sz="1200" b="1" kern="1200" baseline="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 организацией рабочих мест в РАБИС-НП в БПУ, руб.</a:t>
                      </a:r>
                      <a:endParaRPr lang="en-GB" sz="12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2B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2814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Доработка</a:t>
                      </a:r>
                      <a:r>
                        <a:rPr lang="ru-RU" sz="120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РАБИС-НП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49 578 438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37 575 237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81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Доработка</a:t>
                      </a:r>
                      <a:r>
                        <a:rPr lang="ru-RU" sz="120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САБС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37 250 000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36 250 000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32 000 000</a:t>
                      </a:r>
                      <a:endParaRPr lang="ru-RU" sz="1200" b="0" i="0" u="none" strike="noStrike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40 350 000</a:t>
                      </a: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814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КТС для</a:t>
                      </a:r>
                      <a:r>
                        <a:rPr lang="ru-RU" sz="120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РАБИС-НП</a:t>
                      </a:r>
                      <a:endParaRPr lang="ru-RU" sz="1200" b="0" i="0" u="none" strike="noStrike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2 000 000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0" i="0" u="none" strike="noStrike" dirty="0">
                        <a:solidFill>
                          <a:srgbClr val="1B1B1B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0" i="0" u="none" strike="noStrike" dirty="0">
                        <a:solidFill>
                          <a:srgbClr val="1B1B1B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814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КТС для</a:t>
                      </a:r>
                      <a:r>
                        <a:rPr lang="ru-RU" sz="120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САБС БПУ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3 200 000</a:t>
                      </a:r>
                      <a:endParaRPr lang="ru-RU" sz="1200" b="0" i="0" u="none" strike="noStrike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814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Интеграция</a:t>
                      </a:r>
                      <a:r>
                        <a:rPr lang="ru-RU" sz="12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с АС БУ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ru-RU" sz="12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900 000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ru-RU" sz="12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900 000</a:t>
                      </a:r>
                      <a:endParaRPr lang="ru-RU" sz="1200" b="0" i="0" u="none" strike="noStrike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ru-RU" sz="12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900 000</a:t>
                      </a:r>
                      <a:endParaRPr lang="ru-RU" sz="1200" b="0" i="0" u="none" strike="noStrike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28141">
                <a:tc>
                  <a:txBody>
                    <a:bodyPr/>
                    <a:lstStyle/>
                    <a:p>
                      <a:pPr algn="ctr"/>
                      <a:endParaRPr lang="ru-RU" sz="1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ИТОГО:</a:t>
                      </a:r>
                      <a:endParaRPr lang="ru-RU" sz="12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100 728 438</a:t>
                      </a:r>
                      <a:endParaRPr lang="ru-RU" sz="12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89 725 237</a:t>
                      </a:r>
                      <a:endParaRPr lang="ru-RU" sz="12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1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49 100 000</a:t>
                      </a:r>
                      <a:endParaRPr lang="ru-RU" sz="12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40 350 000</a:t>
                      </a:r>
                      <a:endParaRPr lang="ru-RU" sz="12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800100" y="399547"/>
            <a:ext cx="7406685" cy="360000"/>
          </a:xfrm>
        </p:spPr>
        <p:txBody>
          <a:bodyPr/>
          <a:lstStyle/>
          <a:p>
            <a:r>
              <a:rPr lang="ru-RU" dirty="0">
                <a:latin typeface="Calibri" panose="020F0502020204030204" pitchFamily="34" charset="0"/>
              </a:rPr>
              <a:t>ВЫБОР ВАРИАНТА </a:t>
            </a:r>
            <a:r>
              <a:rPr lang="ru-RU" dirty="0" smtClean="0">
                <a:latin typeface="Calibri" panose="020F0502020204030204" pitchFamily="34" charset="0"/>
              </a:rPr>
              <a:t>ФОРМИРОВАНИЯ </a:t>
            </a:r>
            <a:r>
              <a:rPr lang="ru-RU" dirty="0">
                <a:latin typeface="Calibri" panose="020F0502020204030204" pitchFamily="34" charset="0"/>
              </a:rPr>
              <a:t>БАЛАНСА</a:t>
            </a:r>
            <a:br>
              <a:rPr lang="ru-RU" dirty="0">
                <a:latin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</a:rPr>
              <a:t>ПРЕДЛОЖЕНИЕ: ФОРМИРОВАНИЕ </a:t>
            </a:r>
            <a:r>
              <a:rPr lang="ru-RU" dirty="0" smtClean="0">
                <a:latin typeface="Calibri" panose="020F0502020204030204" pitchFamily="34" charset="0"/>
              </a:rPr>
              <a:t>БАЛАНСА В АС БУ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15" name="Rectangle 36"/>
          <p:cNvSpPr>
            <a:spLocks noChangeArrowheads="1"/>
          </p:cNvSpPr>
          <p:nvPr/>
        </p:nvSpPr>
        <p:spPr bwMode="auto">
          <a:xfrm>
            <a:off x="525968" y="4120256"/>
            <a:ext cx="8256682" cy="593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 sz="1662" dirty="0">
              <a:latin typeface="Arial (Основной текст)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825587" y="3881031"/>
            <a:ext cx="176400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002060"/>
                </a:solidFill>
                <a:latin typeface="Arial (Основной текст)"/>
              </a:rPr>
              <a:t>Предлагается</a:t>
            </a:r>
            <a:endParaRPr lang="ru-RU" u="sng" dirty="0">
              <a:solidFill>
                <a:srgbClr val="002060"/>
              </a:solidFill>
              <a:latin typeface="Arial (Основной текст)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649839" y="4120254"/>
            <a:ext cx="8122300" cy="64498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330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62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Calibri" panose="020F0502020204030204" pitchFamily="34" charset="0"/>
              </a:rPr>
              <a:t>ФОРМИРОВАНИЕ БАЛАНСА В ТПК САБС В </a:t>
            </a:r>
            <a:r>
              <a:rPr lang="ru-RU" sz="1600" dirty="0" smtClean="0">
                <a:latin typeface="Calibri" panose="020F0502020204030204" pitchFamily="34" charset="0"/>
              </a:rPr>
              <a:t>БПУ (ВАРИАНТ 2)</a:t>
            </a:r>
            <a:endParaRPr lang="ru-RU" sz="1600" dirty="0">
              <a:latin typeface="Calibri" panose="020F0502020204030204" pitchFamily="34" charset="0"/>
            </a:endParaRPr>
          </a:p>
        </p:txBody>
      </p:sp>
      <p:sp>
        <p:nvSpPr>
          <p:cNvPr id="18" name="Стрелка вправо 17"/>
          <p:cNvSpPr/>
          <p:nvPr/>
        </p:nvSpPr>
        <p:spPr>
          <a:xfrm>
            <a:off x="253901" y="4260806"/>
            <a:ext cx="225323" cy="363341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Arial (Основной текст)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5969" y="4902719"/>
            <a:ext cx="6812092" cy="128770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минимальные доработки ПО САБС БПУ и САБС ОПУ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переход на АС ППС и АС БУ в соответствии с утвержденными ФТ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процедура интеграции с АС ППС не меняется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технология расчетов не меняется</a:t>
            </a:r>
            <a:endParaRPr lang="ru-RU" sz="16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порядок тестирования САБС ОПУ и САБС БПУ не меняется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746458"/>
            <a:ext cx="2128813" cy="23631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400" b="1" dirty="0">
                <a:solidFill>
                  <a:schemeClr val="bg2">
                    <a:lumMod val="10000"/>
                  </a:schemeClr>
                </a:solidFill>
              </a:rPr>
              <a:t>Длительность</a:t>
            </a:r>
            <a:r>
              <a:rPr lang="ru-RU" sz="1400" b="1" cap="none" baseline="0" dirty="0" smtClean="0">
                <a:solidFill>
                  <a:schemeClr val="bg2">
                    <a:lumMod val="10000"/>
                  </a:schemeClr>
                </a:solidFill>
              </a:rPr>
              <a:t>– 12 мес.</a:t>
            </a:r>
            <a:r>
              <a:rPr lang="ru-RU" sz="1400" b="1" cap="none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endParaRPr lang="ru-RU" sz="1400" b="1" cap="none" baseline="0" dirty="0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17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32911"/>
            <a:ext cx="6298272" cy="563053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Calibri" panose="020F0502020204030204" pitchFamily="34" charset="0"/>
              </a:rPr>
              <a:t>ВЫБОР </a:t>
            </a:r>
            <a:r>
              <a:rPr lang="ru-RU" dirty="0" smtClean="0">
                <a:latin typeface="Calibri" panose="020F0502020204030204" pitchFamily="34" charset="0"/>
              </a:rPr>
              <a:t>ВАРИАНТА ЦЕНТРАЛИЗАЦИИ </a:t>
            </a:r>
            <a:r>
              <a:rPr lang="ru-RU" dirty="0">
                <a:latin typeface="Calibri" panose="020F0502020204030204" pitchFamily="34" charset="0"/>
              </a:rPr>
              <a:t>АС ВХД</a:t>
            </a:r>
            <a:br>
              <a:rPr lang="ru-RU" dirty="0">
                <a:latin typeface="Calibri" panose="020F0502020204030204" pitchFamily="34" charset="0"/>
              </a:rPr>
            </a:br>
            <a:r>
              <a:rPr lang="ru-RU" dirty="0">
                <a:latin typeface="Calibri" panose="020F0502020204030204" pitchFamily="34" charset="0"/>
              </a:rPr>
              <a:t>ВАРИАНТ </a:t>
            </a:r>
            <a:r>
              <a:rPr lang="ru-RU" dirty="0" smtClean="0">
                <a:latin typeface="Calibri" panose="020F0502020204030204" pitchFamily="34" charset="0"/>
              </a:rPr>
              <a:t>1 - С ОРГАНИЗАЦИЕЙ </a:t>
            </a:r>
            <a:r>
              <a:rPr lang="ru-RU" dirty="0">
                <a:latin typeface="Calibri" panose="020F0502020204030204" pitchFamily="34" charset="0"/>
              </a:rPr>
              <a:t>УДАЛЕННЫХ РАБОЧИХ МЕСТ В </a:t>
            </a:r>
            <a:r>
              <a:rPr lang="ru-RU" dirty="0" smtClean="0">
                <a:latin typeface="Calibri" panose="020F0502020204030204" pitchFamily="34" charset="0"/>
              </a:rPr>
              <a:t>ОПУ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4221445" y="3737864"/>
            <a:ext cx="2521159" cy="77888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Функции: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ведение бухгалтерского учета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едение </a:t>
            </a: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материального учета, кадрового учета 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БПУ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1445" y="5314404"/>
            <a:ext cx="2235409" cy="42721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Функции: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ведение материального учета, кадрового </a:t>
            </a: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учета 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ОПУ</a:t>
            </a:r>
            <a:endParaRPr lang="ru-RU" sz="1200" b="1" cap="none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67343" y="932912"/>
            <a:ext cx="2461161" cy="9051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200" cap="none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Плюсы: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используемая схема реализована во всех ГУ Банка России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е требуется доработка АС ВХД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единая платформа АС ВХД</a:t>
            </a:r>
            <a:endParaRPr lang="ru-RU" sz="12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ru-RU" sz="1200" b="1" cap="none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838241"/>
              </p:ext>
            </p:extLst>
          </p:nvPr>
        </p:nvGraphicFramePr>
        <p:xfrm>
          <a:off x="6567343" y="1838035"/>
          <a:ext cx="2501632" cy="164255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2764"/>
                <a:gridCol w="1129332"/>
                <a:gridCol w="1129536"/>
              </a:tblGrid>
              <a:tr h="196711"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 smtClean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GB" sz="10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en-GB" sz="10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Стоимость, руб.*</a:t>
                      </a:r>
                      <a:endParaRPr lang="en-GB" sz="10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</a:tr>
              <a:tr h="259106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0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Работы по централизации данных ОПУ в БПУ</a:t>
                      </a:r>
                      <a:endParaRPr lang="ru-RU" sz="1000" b="0" i="0" u="none" strike="noStrike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40 000 000</a:t>
                      </a:r>
                      <a:endParaRPr lang="ru-RU" sz="10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259106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0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Организация</a:t>
                      </a:r>
                      <a:r>
                        <a:rPr lang="ru-RU" sz="10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связи ПУ по защищенным </a:t>
                      </a:r>
                    </a:p>
                    <a:p>
                      <a:pPr algn="l" fontAlgn="b"/>
                      <a:r>
                        <a:rPr lang="ru-RU" sz="10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каналам связи**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124 293 400 </a:t>
                      </a:r>
                    </a:p>
                  </a:txBody>
                  <a:tcPr marL="8868" marR="8868" marT="8868" marB="0" anchor="ctr"/>
                </a:tc>
              </a:tr>
              <a:tr h="131650"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0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Модернизация КТС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40 000 000</a:t>
                      </a:r>
                    </a:p>
                  </a:txBody>
                  <a:tcPr marL="8868" marR="8868" marT="8868" marB="0" anchor="ctr"/>
                </a:tc>
              </a:tr>
              <a:tr h="131650">
                <a:tc>
                  <a:txBody>
                    <a:bodyPr/>
                    <a:lstStyle/>
                    <a:p>
                      <a:pPr algn="ctr"/>
                      <a:endParaRPr lang="ru-RU" sz="10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00" b="1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ИТОГО:</a:t>
                      </a:r>
                      <a:endParaRPr lang="ru-RU" sz="10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0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204 293 400</a:t>
                      </a:r>
                    </a:p>
                  </a:txBody>
                  <a:tcPr marL="8868" marR="8868" marT="8868" marB="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607814" y="3548857"/>
            <a:ext cx="2461161" cy="4275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00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* стоимость может быть уточнена после подсчета количества рабочих мест</a:t>
            </a:r>
          </a:p>
          <a:p>
            <a:pPr>
              <a:lnSpc>
                <a:spcPct val="90000"/>
              </a:lnSpc>
            </a:pPr>
            <a:r>
              <a:rPr lang="ru-RU" sz="100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**  обязательное условие. В данный </a:t>
            </a:r>
            <a:r>
              <a:rPr lang="ru-RU" sz="1000" i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момент </a:t>
            </a:r>
            <a:r>
              <a:rPr lang="ru-RU" sz="100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происходит шифрование только платежного трафика. В рамках данного проекта (и других запланированных проектов не связанных с АС ВХД) необходимо </a:t>
            </a:r>
            <a:r>
              <a:rPr lang="ru-RU" sz="1000" i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передавать </a:t>
            </a:r>
            <a:r>
              <a:rPr lang="ru-RU" sz="100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персональные данные. </a:t>
            </a:r>
            <a:r>
              <a:rPr lang="ru-RU" sz="1000" i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Д</a:t>
            </a:r>
            <a:r>
              <a:rPr lang="ru-RU" sz="100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ля этого необходимо организовать защищенные каналы связи.</a:t>
            </a:r>
          </a:p>
          <a:p>
            <a:pPr>
              <a:lnSpc>
                <a:spcPct val="90000"/>
              </a:lnSpc>
            </a:pPr>
            <a:r>
              <a:rPr lang="ru-RU" sz="100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(</a:t>
            </a:r>
            <a:r>
              <a:rPr lang="ru-RU" sz="1000" i="1" cap="none" baseline="0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см. детали в приложении 1)</a:t>
            </a:r>
          </a:p>
        </p:txBody>
      </p:sp>
    </p:spTree>
    <p:extLst>
      <p:ext uri="{BB962C8B-B14F-4D97-AF65-F5344CB8AC3E}">
        <p14:creationId xmlns:p14="http://schemas.microsoft.com/office/powerpoint/2010/main" val="4023435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1" y="915110"/>
            <a:ext cx="8548969" cy="420006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0100" y="399547"/>
            <a:ext cx="7622371" cy="360000"/>
          </a:xfrm>
        </p:spPr>
        <p:txBody>
          <a:bodyPr/>
          <a:lstStyle/>
          <a:p>
            <a:r>
              <a:rPr lang="ru-RU" dirty="0">
                <a:solidFill>
                  <a:srgbClr val="1B1B1B"/>
                </a:solidFill>
                <a:latin typeface="Calibri" panose="020F0502020204030204" pitchFamily="34" charset="0"/>
              </a:rPr>
              <a:t>ВЫБОР ВАРИАНТА ЦЕНТРАЛИЗАЦИИ АС ВХД</a:t>
            </a:r>
            <a:br>
              <a:rPr lang="ru-RU" dirty="0">
                <a:solidFill>
                  <a:srgbClr val="1B1B1B"/>
                </a:solidFill>
                <a:latin typeface="Calibri" panose="020F0502020204030204" pitchFamily="34" charset="0"/>
              </a:rPr>
            </a:br>
            <a:r>
              <a:rPr lang="ru-RU" dirty="0">
                <a:solidFill>
                  <a:srgbClr val="1B1B1B"/>
                </a:solidFill>
                <a:latin typeface="Calibri" panose="020F0502020204030204" pitchFamily="34" charset="0"/>
              </a:rPr>
              <a:t>ВАРИАНТ </a:t>
            </a:r>
            <a:r>
              <a:rPr lang="ru-RU" dirty="0" smtClean="0">
                <a:solidFill>
                  <a:srgbClr val="1B1B1B"/>
                </a:solidFill>
                <a:latin typeface="Calibri" panose="020F0502020204030204" pitchFamily="34" charset="0"/>
              </a:rPr>
              <a:t>2 - </a:t>
            </a:r>
            <a:r>
              <a:rPr lang="ru-RU" dirty="0">
                <a:solidFill>
                  <a:srgbClr val="1B1B1B"/>
                </a:solidFill>
                <a:latin typeface="Calibri" panose="020F0502020204030204" pitchFamily="34" charset="0"/>
              </a:rPr>
              <a:t>С ЛОКАЛЬНЫМИ АС ВХД И ОРГАНИЗАЦИЕЙ СИНХРОНИЗАЦИИ </a:t>
            </a:r>
            <a:r>
              <a:rPr lang="ru-RU" dirty="0" smtClean="0">
                <a:solidFill>
                  <a:srgbClr val="1B1B1B"/>
                </a:solidFill>
                <a:latin typeface="Calibri" panose="020F0502020204030204" pitchFamily="34" charset="0"/>
              </a:rPr>
              <a:t>ДАННЫХ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10</a:t>
            </a:fld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490438"/>
              </p:ext>
            </p:extLst>
          </p:nvPr>
        </p:nvGraphicFramePr>
        <p:xfrm>
          <a:off x="233681" y="5163681"/>
          <a:ext cx="5153659" cy="132939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4365"/>
                <a:gridCol w="3244945"/>
                <a:gridCol w="1474349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kern="1200" dirty="0" smtClean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GB" sz="9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en-GB" sz="9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Стоимость, руб.*</a:t>
                      </a:r>
                      <a:endParaRPr lang="en-GB" sz="9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9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9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Работы по централизации данных ОПУ в БПУ</a:t>
                      </a:r>
                      <a:endParaRPr lang="ru-RU" sz="900" b="0" i="0" u="none" strike="noStrike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26 000 000</a:t>
                      </a:r>
                      <a:endParaRPr lang="ru-RU" sz="9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9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9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Организация</a:t>
                      </a:r>
                      <a:r>
                        <a:rPr lang="ru-RU" sz="9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связи ПУ по защищенным каналам связи</a:t>
                      </a:r>
                      <a:r>
                        <a:rPr lang="en-US" sz="9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**</a:t>
                      </a:r>
                      <a:endParaRPr lang="ru-RU" sz="900" b="0" i="0" u="none" strike="noStrike" baseline="0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124 293 400 </a:t>
                      </a: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9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9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Модернизация КТС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40 000 000</a:t>
                      </a: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9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9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9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Стоимость доработки ПО по обеспечению синхронизации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3 000 000</a:t>
                      </a: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endParaRPr lang="ru-RU" sz="9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ИТОГО:</a:t>
                      </a:r>
                      <a:endParaRPr lang="ru-RU" sz="9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9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193 293 400</a:t>
                      </a:r>
                    </a:p>
                  </a:txBody>
                  <a:tcPr marL="8868" marR="8868" marT="8868" marB="0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27242" y="5163681"/>
            <a:ext cx="3155408" cy="110248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Минусы: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доработка АС ВХД по обеспечению синхронизации (апробация/пилотный </a:t>
            </a:r>
          </a:p>
          <a:p>
            <a:pPr>
              <a:lnSpc>
                <a:spcPct val="90000"/>
              </a:lnSpc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     проект в одном ПУ)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увеличение затрат на тестирование  АС ВХД</a:t>
            </a:r>
          </a:p>
          <a:p>
            <a:pPr>
              <a:lnSpc>
                <a:spcPct val="90000"/>
              </a:lnSpc>
            </a:pPr>
            <a:endParaRPr lang="ru-RU" sz="1200" b="1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sz="1200" cap="none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Плюсы: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втономность ОПУ</a:t>
            </a:r>
            <a:endParaRPr lang="ru-RU" sz="1200" b="1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200" cap="none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7242" y="1749924"/>
            <a:ext cx="3057589" cy="10941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Функции: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едение </a:t>
            </a: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бухгалтерского учета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едение </a:t>
            </a: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материального учета, </a:t>
            </a:r>
            <a:endParaRPr lang="ru-RU" sz="1200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    кадрового </a:t>
            </a: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учета БПУ</a:t>
            </a:r>
            <a:endParaRPr lang="ru-RU" sz="1200" b="1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едение централизованных справочников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взаимодействие с АС ВХД ОПУ (синхронизация)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администрирование АС ВХД БПУ</a:t>
            </a:r>
          </a:p>
          <a:p>
            <a:pPr>
              <a:lnSpc>
                <a:spcPct val="90000"/>
              </a:lnSpc>
            </a:pPr>
            <a:endParaRPr lang="ru-RU" sz="12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200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ru-RU" sz="1200" b="1" cap="none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27242" y="3567188"/>
            <a:ext cx="2916019" cy="82507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Функции: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едение </a:t>
            </a: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материального учета, кадрового учета 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ОПУ</a:t>
            </a:r>
            <a:endParaRPr lang="ru-RU" sz="1200" b="1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заимодействие </a:t>
            </a: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с 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АС ВХД БПУ (синхронизация)</a:t>
            </a:r>
            <a:endParaRPr lang="ru-RU" sz="12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а</a:t>
            </a:r>
            <a:r>
              <a:rPr lang="ru-RU" sz="12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дминистрирование АС ВХД ОПУ</a:t>
            </a:r>
            <a:endParaRPr lang="ru-RU" sz="12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ru-RU" sz="1200" b="1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ru-RU" sz="1200" b="1" cap="none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681" y="6537055"/>
            <a:ext cx="5153659" cy="18646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00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* стоимость может быть уточнена после подсчета количества рабочих мест</a:t>
            </a:r>
          </a:p>
          <a:p>
            <a:pPr>
              <a:lnSpc>
                <a:spcPct val="90000"/>
              </a:lnSpc>
            </a:pPr>
            <a:r>
              <a:rPr lang="ru-RU" sz="1000" i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** см. детали в приложении 1</a:t>
            </a:r>
          </a:p>
          <a:p>
            <a:pPr algn="l">
              <a:lnSpc>
                <a:spcPct val="90000"/>
              </a:lnSpc>
            </a:pPr>
            <a:endParaRPr lang="ru-RU" sz="1000" i="1" cap="none" baseline="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30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693197" y="5239654"/>
            <a:ext cx="8056606" cy="8038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используемая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схема реализована во всех ГУ Банка России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не требуется доработка АС ВХД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единая платформа АС 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ВХД</a:t>
            </a:r>
            <a:endParaRPr lang="ru-RU" sz="16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600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6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752423"/>
              </p:ext>
            </p:extLst>
          </p:nvPr>
        </p:nvGraphicFramePr>
        <p:xfrm>
          <a:off x="410176" y="1248650"/>
          <a:ext cx="8372474" cy="2184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14349"/>
                <a:gridCol w="3067050"/>
                <a:gridCol w="2181225"/>
                <a:gridCol w="2609850"/>
              </a:tblGrid>
              <a:tr h="314243"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п/п</a:t>
                      </a:r>
                      <a:endParaRPr lang="en-GB" sz="12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en-GB" sz="12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Вариант 1 - С организацией</a:t>
                      </a:r>
                      <a:br>
                        <a:rPr lang="ru-RU" sz="120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ru-RU" sz="120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удаленных рабочих мест пользователей в ОПУ</a:t>
                      </a:r>
                      <a:endParaRPr lang="en-GB" sz="12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Вариант 2 - С</a:t>
                      </a:r>
                      <a:r>
                        <a:rPr lang="ru-RU" sz="12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 локальными АС ВХД в ОПУ и организацией синхронизации данных</a:t>
                      </a: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</a:tr>
              <a:tr h="13268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Работы по централизации данных ОПУ в БПУ</a:t>
                      </a:r>
                      <a:endParaRPr lang="ru-RU" sz="1200" b="0" i="0" u="none" strike="noStrike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40 000 000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26 000 000</a:t>
                      </a:r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18596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Организация</a:t>
                      </a:r>
                      <a:r>
                        <a:rPr lang="ru-RU" sz="12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связи ПУ по защищенным </a:t>
                      </a:r>
                    </a:p>
                    <a:p>
                      <a:pPr algn="l" fontAlgn="b"/>
                      <a:r>
                        <a:rPr lang="ru-RU" sz="12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каналам связи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124 293 400 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124 293 400 </a:t>
                      </a:r>
                    </a:p>
                  </a:txBody>
                  <a:tcPr marL="8868" marR="8868" marT="8868" marB="0" anchor="ctr"/>
                </a:tc>
              </a:tr>
              <a:tr h="13268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Модернизация КТС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40 000 000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40 000 000</a:t>
                      </a:r>
                    </a:p>
                  </a:txBody>
                  <a:tcPr marL="8868" marR="8868" marT="8868" marB="0" anchor="ctr"/>
                </a:tc>
              </a:tr>
              <a:tr h="18596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Стоимость доработки ПО по обеспечению синхронизации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ru-RU" sz="1200" dirty="0">
                        <a:solidFill>
                          <a:schemeClr val="bg2">
                            <a:lumMod val="10000"/>
                          </a:schemeClr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3 000 000</a:t>
                      </a:r>
                    </a:p>
                  </a:txBody>
                  <a:tcPr marL="8868" marR="8868" marT="8868" marB="0" anchor="ctr"/>
                </a:tc>
              </a:tr>
              <a:tr h="132681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ИТОГО:</a:t>
                      </a:r>
                      <a:endParaRPr lang="ru-RU" sz="1200" b="1" i="0" u="none" strike="noStrike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204 293 400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193 293 400</a:t>
                      </a:r>
                    </a:p>
                  </a:txBody>
                  <a:tcPr marL="8868" marR="8868" marT="8868" marB="0" anchor="ctr"/>
                </a:tc>
              </a:tr>
            </a:tbl>
          </a:graphicData>
        </a:graphic>
      </p:graphicFrame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800100" y="399547"/>
            <a:ext cx="7406685" cy="360000"/>
          </a:xfrm>
        </p:spPr>
        <p:txBody>
          <a:bodyPr/>
          <a:lstStyle/>
          <a:p>
            <a:r>
              <a:rPr lang="ru-RU" dirty="0">
                <a:solidFill>
                  <a:srgbClr val="1B1B1B"/>
                </a:solidFill>
                <a:latin typeface="Calibri" panose="020F0502020204030204" pitchFamily="34" charset="0"/>
              </a:rPr>
              <a:t>ВЫБОР ВАРИАНТА ЦЕНТРАЛИЗАЦИИ АС ВХД </a:t>
            </a:r>
            <a:br>
              <a:rPr lang="ru-RU" dirty="0">
                <a:solidFill>
                  <a:srgbClr val="1B1B1B"/>
                </a:solidFill>
                <a:latin typeface="Calibri" panose="020F0502020204030204" pitchFamily="34" charset="0"/>
              </a:rPr>
            </a:br>
            <a:r>
              <a:rPr lang="ru-RU" dirty="0">
                <a:solidFill>
                  <a:srgbClr val="1B1B1B"/>
                </a:solidFill>
                <a:latin typeface="Calibri" panose="020F0502020204030204" pitchFamily="34" charset="0"/>
              </a:rPr>
              <a:t>ПРЕДЛОЖЕНИЕ: ЦЕНТРАЛИЗАЦИЯ С ОРГАНИЗАЦИЕЙ РАБОЧИХ МЕСТ В ОПУ</a:t>
            </a:r>
          </a:p>
        </p:txBody>
      </p:sp>
      <p:sp>
        <p:nvSpPr>
          <p:cNvPr id="7" name="Rectangle 36"/>
          <p:cNvSpPr>
            <a:spLocks noChangeArrowheads="1"/>
          </p:cNvSpPr>
          <p:nvPr/>
        </p:nvSpPr>
        <p:spPr bwMode="auto">
          <a:xfrm>
            <a:off x="525968" y="3866164"/>
            <a:ext cx="8256682" cy="68996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 sz="1662" dirty="0">
              <a:latin typeface="Arial (Основной текст)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25587" y="3626939"/>
            <a:ext cx="1764009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002060"/>
                </a:solidFill>
                <a:latin typeface="Arial (Основной текст)"/>
              </a:rPr>
              <a:t>Предлагается</a:t>
            </a:r>
            <a:endParaRPr lang="ru-RU" u="sng" dirty="0">
              <a:solidFill>
                <a:srgbClr val="002060"/>
              </a:solidFill>
              <a:latin typeface="Arial (Основной текст)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60350" y="3973499"/>
            <a:ext cx="8122300" cy="5038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330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62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cap="all" dirty="0">
                <a:latin typeface="Calibri" panose="020F0502020204030204" pitchFamily="34" charset="0"/>
              </a:rPr>
              <a:t>РЕАЛИЗОВАТЬ ВАРИАНТ ЦЕНТРАЛИЗАЦИИ С </a:t>
            </a:r>
            <a:r>
              <a:rPr lang="ru-RU" sz="1600" cap="all" dirty="0" smtClean="0">
                <a:latin typeface="Calibri" panose="020F0502020204030204" pitchFamily="34" charset="0"/>
              </a:rPr>
              <a:t>организацией удаленных </a:t>
            </a:r>
            <a:r>
              <a:rPr lang="ru-RU" sz="1600" cap="all" dirty="0">
                <a:latin typeface="Calibri" panose="020F0502020204030204" pitchFamily="34" charset="0"/>
              </a:rPr>
              <a:t>рабочих мест пользователей в </a:t>
            </a:r>
            <a:r>
              <a:rPr lang="ru-RU" sz="1600" cap="all" dirty="0" smtClean="0">
                <a:latin typeface="Calibri" panose="020F0502020204030204" pitchFamily="34" charset="0"/>
              </a:rPr>
              <a:t>ОПУ (ВАРИАНТ 1)*</a:t>
            </a:r>
            <a:endParaRPr lang="ru-RU" sz="1600" cap="all" dirty="0">
              <a:latin typeface="Calibri" panose="020F0502020204030204" pitchFamily="34" charset="0"/>
            </a:endParaRPr>
          </a:p>
        </p:txBody>
      </p:sp>
      <p:sp>
        <p:nvSpPr>
          <p:cNvPr id="10" name="Стрелка вправо 9"/>
          <p:cNvSpPr/>
          <p:nvPr/>
        </p:nvSpPr>
        <p:spPr>
          <a:xfrm>
            <a:off x="253901" y="4006714"/>
            <a:ext cx="225323" cy="363341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Arial (Основной текст)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2213" y="4597005"/>
            <a:ext cx="8260437" cy="239223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600" dirty="0" smtClean="0">
                <a:solidFill>
                  <a:schemeClr val="tx2"/>
                </a:solidFill>
                <a:latin typeface="Calibri" panose="020F0502020204030204" pitchFamily="34" charset="0"/>
              </a:rPr>
              <a:t>* связь с проектом ДПУ-П-1 «Переход </a:t>
            </a:r>
            <a:r>
              <a:rPr lang="ru-RU" sz="1600" dirty="0">
                <a:solidFill>
                  <a:schemeClr val="tx2"/>
                </a:solidFill>
                <a:latin typeface="Calibri" panose="020F0502020204030204" pitchFamily="34" charset="0"/>
              </a:rPr>
              <a:t>на АС ВХД 1С версии </a:t>
            </a:r>
            <a:r>
              <a:rPr lang="ru-RU" sz="1600" dirty="0" smtClean="0">
                <a:solidFill>
                  <a:schemeClr val="tx2"/>
                </a:solidFill>
                <a:latin typeface="Calibri" panose="020F0502020204030204" pitchFamily="34" charset="0"/>
              </a:rPr>
              <a:t>8» </a:t>
            </a:r>
            <a:r>
              <a:rPr lang="ru-RU" sz="1600" cap="none" baseline="0" dirty="0" smtClean="0">
                <a:solidFill>
                  <a:schemeClr val="tx2"/>
                </a:solidFill>
                <a:latin typeface="Calibri" panose="020F0502020204030204" pitchFamily="34" charset="0"/>
              </a:rPr>
              <a:t>(см. </a:t>
            </a:r>
            <a:r>
              <a:rPr lang="ru-RU" sz="1600" dirty="0" smtClean="0">
                <a:solidFill>
                  <a:schemeClr val="tx2"/>
                </a:solidFill>
                <a:latin typeface="Calibri" panose="020F0502020204030204" pitchFamily="34" charset="0"/>
              </a:rPr>
              <a:t>приложение 2)</a:t>
            </a:r>
            <a:endParaRPr lang="ru-RU" sz="1600" cap="none" baseline="0" dirty="0" smtClean="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58941" y="3552423"/>
            <a:ext cx="2134234" cy="11961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400" b="1" dirty="0" smtClean="0">
                <a:solidFill>
                  <a:schemeClr val="bg2">
                    <a:lumMod val="10000"/>
                  </a:schemeClr>
                </a:solidFill>
              </a:rPr>
              <a:t>Длительность – 12 мес.</a:t>
            </a:r>
            <a:endParaRPr lang="ru-RU" sz="1400" b="1" cap="none" baseline="0" dirty="0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4623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ПРЕДЛОЖЕНИЕ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226298" y="2338996"/>
            <a:ext cx="8122300" cy="5038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330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62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1600" cap="all" dirty="0">
              <a:latin typeface="Calibri" panose="020F0502020204030204" pitchFamily="34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274530"/>
              </p:ext>
            </p:extLst>
          </p:nvPr>
        </p:nvGraphicFramePr>
        <p:xfrm>
          <a:off x="451621" y="3530669"/>
          <a:ext cx="4930976" cy="29878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20415"/>
                <a:gridCol w="3275425"/>
                <a:gridCol w="1135136"/>
              </a:tblGrid>
              <a:tr h="262894"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kern="1200" dirty="0" smtClean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dirty="0" smtClean="0">
                          <a:solidFill>
                            <a:schemeClr val="lt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en-GB" sz="1100" b="1" kern="1200" dirty="0" smtClean="0">
                        <a:solidFill>
                          <a:schemeClr val="lt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Стоимость, руб.</a:t>
                      </a:r>
                      <a:endParaRPr lang="en-GB" sz="11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2B2"/>
                    </a:solidFill>
                  </a:tcPr>
                </a:tc>
              </a:tr>
              <a:tr h="262894">
                <a:tc gridSpan="3">
                  <a:txBody>
                    <a:bodyPr/>
                    <a:lstStyle/>
                    <a:p>
                      <a:pPr marL="0" marR="0" indent="0" algn="l" defTabSz="6330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 smtClean="0">
                          <a:solidFill>
                            <a:srgbClr val="373743"/>
                          </a:solidFill>
                          <a:latin typeface="Calibri" panose="020F0502020204030204" pitchFamily="34" charset="0"/>
                        </a:rPr>
                        <a:t>Формирование баланса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2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62894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1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Доработка САБС БПУ и САБС</a:t>
                      </a:r>
                      <a:r>
                        <a:rPr lang="ru-RU" sz="110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ОПУ</a:t>
                      </a:r>
                      <a:endParaRPr lang="ru-RU" sz="11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32 000 000</a:t>
                      </a:r>
                      <a:endParaRPr lang="ru-RU" sz="11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894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КТС для</a:t>
                      </a:r>
                      <a:r>
                        <a:rPr lang="ru-RU" sz="110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1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САБС БПУ </a:t>
                      </a:r>
                      <a:endParaRPr lang="ru-RU" sz="11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3 200 000</a:t>
                      </a:r>
                      <a:endParaRPr lang="ru-RU" sz="1100" b="0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894">
                <a:tc>
                  <a:txBody>
                    <a:bodyPr/>
                    <a:lstStyle/>
                    <a:p>
                      <a:pPr algn="ctr"/>
                      <a:endParaRPr lang="ru-RU" sz="11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 dirty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ИТОГО:</a:t>
                      </a:r>
                      <a:endParaRPr lang="ru-RU" sz="11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35 200 000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894">
                <a:tc gridSpan="3">
                  <a:txBody>
                    <a:bodyPr/>
                    <a:lstStyle/>
                    <a:p>
                      <a:pPr marL="0" marR="0" indent="0" algn="l" defTabSz="6330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kern="120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Централизация АС ВХД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2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262894"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10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Работы по централизации данных ОПУ в БПУ</a:t>
                      </a:r>
                      <a:endParaRPr lang="ru-RU" sz="1100" b="0" i="0" u="none" strike="noStrike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40 000 000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58959"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10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Организация</a:t>
                      </a:r>
                      <a:r>
                        <a:rPr lang="ru-RU" sz="11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связи ПУ по защищенным </a:t>
                      </a:r>
                    </a:p>
                    <a:p>
                      <a:pPr algn="l" fontAlgn="b"/>
                      <a:r>
                        <a:rPr lang="ru-RU" sz="11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каналам связи*</a:t>
                      </a:r>
                      <a:r>
                        <a:rPr lang="en-US" sz="11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*</a:t>
                      </a:r>
                      <a:endParaRPr lang="ru-RU" sz="1100" b="0" i="0" u="none" strike="noStrike" baseline="0" dirty="0" smtClean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124 293 400 </a:t>
                      </a: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894"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10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Модернизация КТС</a:t>
                      </a: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0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40 000 000*</a:t>
                      </a: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894"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ИТОГО:</a:t>
                      </a:r>
                      <a:endParaRPr lang="ru-RU" sz="11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204 293 400</a:t>
                      </a: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62894">
                <a:tc gridSpan="2">
                  <a:txBody>
                    <a:bodyPr/>
                    <a:lstStyle/>
                    <a:p>
                      <a:pPr marL="0" marR="0" indent="0" algn="l" defTabSz="6330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ИТОГО </a:t>
                      </a:r>
                      <a:r>
                        <a:rPr lang="ru-RU" sz="1100" b="1" i="0" u="none" strike="noStrike" baseline="0" dirty="0" smtClean="0">
                          <a:solidFill>
                            <a:schemeClr val="bg2">
                              <a:lumMod val="10000"/>
                            </a:schemeClr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(формирование баланса + централизация АС ВХД):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ru-RU" sz="1200" b="1" i="0" u="none" strike="noStrike" dirty="0">
                        <a:solidFill>
                          <a:schemeClr val="bg2">
                            <a:lumMod val="1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100" b="1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244 643 400</a:t>
                      </a:r>
                      <a:endParaRPr lang="ru-RU" sz="1100" b="1" i="0" u="none" strike="noStrike" dirty="0">
                        <a:solidFill>
                          <a:srgbClr val="1B1B1B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14" name="Rectangle 36"/>
          <p:cNvSpPr>
            <a:spLocks noChangeArrowheads="1"/>
          </p:cNvSpPr>
          <p:nvPr/>
        </p:nvSpPr>
        <p:spPr bwMode="auto">
          <a:xfrm>
            <a:off x="498365" y="2592941"/>
            <a:ext cx="8256682" cy="59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 sz="1662" dirty="0">
              <a:latin typeface="Arial (Основной текст)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797984" y="2353716"/>
            <a:ext cx="288861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002060"/>
                </a:solidFill>
                <a:latin typeface="Arial (Основной текст)"/>
              </a:rPr>
              <a:t>Централизация АС ВХД</a:t>
            </a:r>
            <a:endParaRPr lang="ru-RU" u="sng" dirty="0">
              <a:solidFill>
                <a:srgbClr val="002060"/>
              </a:solidFill>
              <a:latin typeface="Arial (Основной текст)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632747" y="2663894"/>
            <a:ext cx="8122300" cy="50389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330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62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cap="all" dirty="0">
                <a:latin typeface="Calibri" panose="020F0502020204030204" pitchFamily="34" charset="0"/>
              </a:rPr>
              <a:t>РЕАЛИЗОВАТЬ </a:t>
            </a:r>
            <a:r>
              <a:rPr lang="ru-RU" sz="1600" cap="all" dirty="0" smtClean="0">
                <a:latin typeface="Calibri" panose="020F0502020204030204" pitchFamily="34" charset="0"/>
              </a:rPr>
              <a:t>С организацией удаленных </a:t>
            </a:r>
            <a:r>
              <a:rPr lang="ru-RU" sz="1600" cap="all" dirty="0">
                <a:latin typeface="Calibri" panose="020F0502020204030204" pitchFamily="34" charset="0"/>
              </a:rPr>
              <a:t>рабочих мест </a:t>
            </a:r>
            <a:r>
              <a:rPr lang="ru-RU" sz="1600" cap="all" dirty="0" smtClean="0">
                <a:latin typeface="Calibri" panose="020F0502020204030204" pitchFamily="34" charset="0"/>
              </a:rPr>
              <a:t>пользователей </a:t>
            </a:r>
            <a:r>
              <a:rPr lang="ru-RU" sz="1600" cap="all" dirty="0">
                <a:latin typeface="Calibri" panose="020F0502020204030204" pitchFamily="34" charset="0"/>
              </a:rPr>
              <a:t>в </a:t>
            </a:r>
            <a:r>
              <a:rPr lang="ru-RU" sz="1600" cap="all" dirty="0" smtClean="0">
                <a:latin typeface="Calibri" panose="020F0502020204030204" pitchFamily="34" charset="0"/>
              </a:rPr>
              <a:t>ОПУ (ВАРИАНТ 1)</a:t>
            </a:r>
            <a:endParaRPr lang="ru-RU" sz="1600" cap="all" dirty="0">
              <a:latin typeface="Calibri" panose="020F0502020204030204" pitchFamily="34" charset="0"/>
            </a:endParaRPr>
          </a:p>
        </p:txBody>
      </p:sp>
      <p:sp>
        <p:nvSpPr>
          <p:cNvPr id="17" name="Стрелка вправо 16"/>
          <p:cNvSpPr/>
          <p:nvPr/>
        </p:nvSpPr>
        <p:spPr>
          <a:xfrm>
            <a:off x="226298" y="2733491"/>
            <a:ext cx="225323" cy="363341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Arial (Основной текст)"/>
            </a:endParaRPr>
          </a:p>
        </p:txBody>
      </p:sp>
      <p:sp>
        <p:nvSpPr>
          <p:cNvPr id="19" name="Rectangle 36"/>
          <p:cNvSpPr>
            <a:spLocks noChangeArrowheads="1"/>
          </p:cNvSpPr>
          <p:nvPr/>
        </p:nvSpPr>
        <p:spPr bwMode="auto">
          <a:xfrm>
            <a:off x="525968" y="1379717"/>
            <a:ext cx="8256682" cy="593488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 sz="1662" dirty="0">
              <a:latin typeface="Arial (Основной текст)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825587" y="1140492"/>
            <a:ext cx="2943434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ru-RU" b="1" u="sng" dirty="0" smtClean="0">
                <a:solidFill>
                  <a:srgbClr val="002060"/>
                </a:solidFill>
                <a:latin typeface="Arial (Основной текст)"/>
              </a:rPr>
              <a:t>Формирование баланса</a:t>
            </a:r>
            <a:endParaRPr lang="ru-RU" u="sng" dirty="0">
              <a:solidFill>
                <a:srgbClr val="002060"/>
              </a:solidFill>
              <a:latin typeface="Arial (Основной текст)"/>
            </a:endParaRPr>
          </a:p>
        </p:txBody>
      </p:sp>
      <p:sp>
        <p:nvSpPr>
          <p:cNvPr id="21" name="Title 1"/>
          <p:cNvSpPr txBox="1">
            <a:spLocks/>
          </p:cNvSpPr>
          <p:nvPr/>
        </p:nvSpPr>
        <p:spPr>
          <a:xfrm>
            <a:off x="632747" y="1379715"/>
            <a:ext cx="8122300" cy="64498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6330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62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600" dirty="0">
                <a:latin typeface="Calibri" panose="020F0502020204030204" pitchFamily="34" charset="0"/>
              </a:rPr>
              <a:t>ФОРМИРОВАНИЕ БАЛАНСА В ТПК САБС В БПУ (ВАРИАНТ 2)</a:t>
            </a:r>
          </a:p>
        </p:txBody>
      </p:sp>
      <p:sp>
        <p:nvSpPr>
          <p:cNvPr id="22" name="Стрелка вправо 21"/>
          <p:cNvSpPr/>
          <p:nvPr/>
        </p:nvSpPr>
        <p:spPr>
          <a:xfrm>
            <a:off x="253901" y="1520267"/>
            <a:ext cx="225323" cy="363341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lt1"/>
              </a:solidFill>
              <a:latin typeface="Arial (Основной текст)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19981" y="3527385"/>
            <a:ext cx="3162669" cy="128770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ru-RU" sz="13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Формирование баланса: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</a:rPr>
              <a:t>минимальные доработки ПО САБС БПУ и САБС ОПУ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</a:rPr>
              <a:t>переход на АС ППС и АС БУ в соответствии с утвержденными ФТ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</a:rPr>
              <a:t>процедура интеграции с АС ППС не меняется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</a:rPr>
              <a:t>технология расчетов не меняется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</a:rPr>
              <a:t>порядок тестирования САБС ОПУ и САБС БПУ не меняется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300" dirty="0" smtClean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ru-RU" sz="1300" dirty="0" smtClean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Централизация АС ВХД:</a:t>
            </a:r>
            <a:endParaRPr lang="ru-RU" sz="13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используемая схема реализована во всех ГУ Банка России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не требуется доработка АС ВХД 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1300" dirty="0">
                <a:solidFill>
                  <a:srgbClr val="00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единая платформа АС ВХД</a:t>
            </a:r>
          </a:p>
          <a:p>
            <a:pPr marL="171450" indent="-1714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ru-RU" sz="1300" dirty="0">
              <a:solidFill>
                <a:srgbClr val="00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60820" y="3250120"/>
            <a:ext cx="2221829" cy="19076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400" b="1" dirty="0">
                <a:solidFill>
                  <a:schemeClr val="bg2">
                    <a:lumMod val="10000"/>
                  </a:schemeClr>
                </a:solidFill>
              </a:rPr>
              <a:t>Длительность– </a:t>
            </a:r>
            <a:r>
              <a:rPr lang="ru-RU" sz="1400" b="1" dirty="0" smtClean="0">
                <a:solidFill>
                  <a:schemeClr val="bg2">
                    <a:lumMod val="10000"/>
                  </a:schemeClr>
                </a:solidFill>
              </a:rPr>
              <a:t>12 мес.</a:t>
            </a:r>
            <a:endParaRPr lang="ru-RU" sz="1400" b="1" cap="none" baseline="0" dirty="0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60820" y="2050046"/>
            <a:ext cx="2194227" cy="17710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400" b="1" dirty="0" smtClean="0">
                <a:solidFill>
                  <a:schemeClr val="bg2">
                    <a:lumMod val="10000"/>
                  </a:schemeClr>
                </a:solidFill>
              </a:rPr>
              <a:t>Длительность– 12 мес.</a:t>
            </a:r>
            <a:endParaRPr lang="ru-RU" sz="1400" b="1" cap="none" baseline="0" dirty="0" smtClean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1621" y="6536829"/>
            <a:ext cx="5153659" cy="18646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90000"/>
              </a:lnSpc>
            </a:pPr>
            <a:r>
              <a:rPr lang="ru-RU" sz="1000" i="1" dirty="0" smtClean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* стоимость может быть уточнена после подсчета количества рабочих мест</a:t>
            </a:r>
          </a:p>
          <a:p>
            <a:pPr>
              <a:lnSpc>
                <a:spcPct val="90000"/>
              </a:lnSpc>
            </a:pPr>
            <a:r>
              <a:rPr lang="ru-RU" sz="1000" i="1" dirty="0">
                <a:solidFill>
                  <a:schemeClr val="bg2">
                    <a:lumMod val="10000"/>
                  </a:schemeClr>
                </a:solidFill>
                <a:latin typeface="Calibri" panose="020F0502020204030204" pitchFamily="34" charset="0"/>
              </a:rPr>
              <a:t>** см. детали в приложении 1</a:t>
            </a:r>
          </a:p>
          <a:p>
            <a:pPr algn="l">
              <a:lnSpc>
                <a:spcPct val="90000"/>
              </a:lnSpc>
            </a:pPr>
            <a:endParaRPr lang="ru-RU" sz="1000" i="1" cap="none" baseline="0" dirty="0" smtClean="0">
              <a:solidFill>
                <a:schemeClr val="bg2">
                  <a:lumMod val="1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0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18" y="2408882"/>
            <a:ext cx="6013622" cy="371839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0100" y="399547"/>
            <a:ext cx="7886700" cy="360000"/>
          </a:xfrm>
        </p:spPr>
        <p:txBody>
          <a:bodyPr/>
          <a:lstStyle/>
          <a:p>
            <a:r>
              <a:rPr lang="ru-RU" sz="1550" cap="all" dirty="0">
                <a:solidFill>
                  <a:srgbClr val="1B1B1B"/>
                </a:solidFill>
                <a:latin typeface="Calibri" panose="020F0502020204030204" pitchFamily="34" charset="0"/>
              </a:rPr>
              <a:t>Приложение 1 </a:t>
            </a:r>
            <a:r>
              <a:rPr lang="ru-RU" sz="1550" cap="all" dirty="0" smtClean="0">
                <a:solidFill>
                  <a:srgbClr val="1B1B1B"/>
                </a:solidFill>
                <a:latin typeface="Calibri" panose="020F0502020204030204" pitchFamily="34" charset="0"/>
              </a:rPr>
              <a:t>- Схема </a:t>
            </a:r>
            <a:r>
              <a:rPr lang="ru-RU" sz="1550" cap="all" dirty="0">
                <a:solidFill>
                  <a:srgbClr val="1B1B1B"/>
                </a:solidFill>
                <a:latin typeface="Calibri" panose="020F0502020204030204" pitchFamily="34" charset="0"/>
              </a:rPr>
              <a:t>организации связи ПУ по защищенным каналам </a:t>
            </a:r>
            <a:r>
              <a:rPr lang="ru-RU" sz="1550" cap="all" dirty="0" smtClean="0">
                <a:solidFill>
                  <a:srgbClr val="1B1B1B"/>
                </a:solidFill>
                <a:latin typeface="Calibri" panose="020F0502020204030204" pitchFamily="34" charset="0"/>
              </a:rPr>
              <a:t>связи</a:t>
            </a:r>
            <a:endParaRPr lang="ru-RU" sz="155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13</a:t>
            </a:fld>
            <a:endParaRPr lang="ru-RU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299143"/>
              </p:ext>
            </p:extLst>
          </p:nvPr>
        </p:nvGraphicFramePr>
        <p:xfrm>
          <a:off x="6170140" y="4519617"/>
          <a:ext cx="2708959" cy="166174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8797"/>
                <a:gridCol w="1449859"/>
                <a:gridCol w="980303"/>
              </a:tblGrid>
              <a:tr h="132827"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GB" sz="105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Наименование</a:t>
                      </a: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Стоимость, руб.</a:t>
                      </a:r>
                      <a:endParaRPr lang="en-GB" sz="105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</a:tr>
              <a:tr h="136649">
                <a:tc>
                  <a:txBody>
                    <a:bodyPr/>
                    <a:lstStyle/>
                    <a:p>
                      <a:pPr algn="ctr"/>
                      <a:r>
                        <a:rPr lang="ru-RU" sz="1050" b="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05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ru-RU" sz="105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ГУ</a:t>
                      </a:r>
                      <a:endParaRPr lang="ru-RU" sz="1050" b="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5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ru-RU" sz="1050" b="0" dirty="0" smtClean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</a:tr>
              <a:tr h="136649">
                <a:tc>
                  <a:txBody>
                    <a:bodyPr/>
                    <a:lstStyle/>
                    <a:p>
                      <a:pPr algn="ctr"/>
                      <a:r>
                        <a:rPr lang="ru-RU" sz="1050" b="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05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ru-RU" sz="105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7 ТУ</a:t>
                      </a:r>
                      <a:r>
                        <a:rPr lang="ru-RU" sz="1050" b="0" baseline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  с более чем 3 ПУ</a:t>
                      </a:r>
                      <a:endParaRPr lang="ru-RU" sz="1050" b="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14 896 000</a:t>
                      </a:r>
                    </a:p>
                  </a:txBody>
                  <a:tcPr/>
                </a:tc>
              </a:tr>
              <a:tr h="136649">
                <a:tc>
                  <a:txBody>
                    <a:bodyPr/>
                    <a:lstStyle/>
                    <a:p>
                      <a:pPr algn="ctr"/>
                      <a:r>
                        <a:rPr lang="ru-RU" sz="1050" b="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05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ru-RU" sz="105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91 ПУ</a:t>
                      </a:r>
                      <a:endParaRPr lang="ru-RU" sz="1050" b="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98 098 000</a:t>
                      </a:r>
                    </a:p>
                  </a:txBody>
                  <a:tcPr/>
                </a:tc>
              </a:tr>
              <a:tr h="136649">
                <a:tc>
                  <a:txBody>
                    <a:bodyPr/>
                    <a:lstStyle/>
                    <a:p>
                      <a:pPr algn="ctr"/>
                      <a:r>
                        <a:rPr lang="ru-RU" sz="1050" b="0" dirty="0" smtClean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05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ru-RU" sz="105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Стоимость работ</a:t>
                      </a:r>
                      <a:endParaRPr lang="ru-RU" sz="1050" b="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11 299 400</a:t>
                      </a:r>
                    </a:p>
                  </a:txBody>
                  <a:tcPr/>
                </a:tc>
              </a:tr>
              <a:tr h="136649">
                <a:tc>
                  <a:txBody>
                    <a:bodyPr/>
                    <a:lstStyle/>
                    <a:p>
                      <a:pPr algn="ctr"/>
                      <a:endParaRPr lang="ru-RU" sz="1050" b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r>
                        <a:rPr lang="ru-RU" sz="1050" b="1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ИТОГО:</a:t>
                      </a:r>
                      <a:endParaRPr lang="ru-RU" sz="1050" b="1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b="1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124 293 400 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170140" y="6281714"/>
            <a:ext cx="3190875" cy="33972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0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* 212 800 </a:t>
            </a:r>
            <a:r>
              <a:rPr lang="en-US" sz="10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USD</a:t>
            </a:r>
            <a:r>
              <a:rPr lang="ru-RU" sz="10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, пересчитано по курсу 70 руб.</a:t>
            </a:r>
          </a:p>
          <a:p>
            <a:pPr>
              <a:lnSpc>
                <a:spcPct val="90000"/>
              </a:lnSpc>
            </a:pPr>
            <a:r>
              <a:rPr lang="ru-RU" sz="10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** 1 401 400 </a:t>
            </a:r>
            <a:r>
              <a:rPr lang="en-US" sz="1000" dirty="0">
                <a:solidFill>
                  <a:srgbClr val="1B1B1B"/>
                </a:solidFill>
                <a:latin typeface="Calibri" panose="020F0502020204030204" pitchFamily="34" charset="0"/>
              </a:rPr>
              <a:t>USD</a:t>
            </a:r>
            <a:r>
              <a:rPr lang="ru-RU" sz="1000" dirty="0">
                <a:solidFill>
                  <a:srgbClr val="1B1B1B"/>
                </a:solidFill>
                <a:latin typeface="Calibri" panose="020F0502020204030204" pitchFamily="34" charset="0"/>
              </a:rPr>
              <a:t>, пересчитано по курсу 70 руб</a:t>
            </a:r>
            <a:r>
              <a:rPr lang="ru-RU" sz="10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.</a:t>
            </a:r>
            <a:endParaRPr lang="ru-RU" sz="1000" dirty="0">
              <a:solidFill>
                <a:srgbClr val="1B1B1B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9366" y="1016199"/>
            <a:ext cx="8523284" cy="64452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4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В </a:t>
            </a:r>
            <a:r>
              <a:rPr lang="ru-RU" sz="1400" dirty="0">
                <a:solidFill>
                  <a:srgbClr val="1B1B1B"/>
                </a:solidFill>
                <a:latin typeface="Calibri" panose="020F0502020204030204" pitchFamily="34" charset="0"/>
              </a:rPr>
              <a:t>данный момент происходит шифрование только платежного трафика. В рамках данного проекта (и других запланированных проектов не связанных с АС </a:t>
            </a:r>
            <a:r>
              <a:rPr lang="ru-RU" sz="14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ВХД</a:t>
            </a:r>
            <a:r>
              <a:rPr lang="ru-RU" sz="1400" baseline="300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1</a:t>
            </a:r>
            <a:r>
              <a:rPr lang="ru-RU" sz="14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) </a:t>
            </a:r>
            <a:r>
              <a:rPr lang="ru-RU" sz="1400" dirty="0">
                <a:solidFill>
                  <a:srgbClr val="1B1B1B"/>
                </a:solidFill>
                <a:latin typeface="Calibri" panose="020F0502020204030204" pitchFamily="34" charset="0"/>
              </a:rPr>
              <a:t>необходимо передавать персональные данные. Для этого необходимо организовать защищенные каналы </a:t>
            </a:r>
            <a:r>
              <a:rPr lang="ru-RU" sz="14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связи (приказ №</a:t>
            </a:r>
            <a:r>
              <a:rPr lang="ru-RU" sz="1400" dirty="0">
                <a:solidFill>
                  <a:srgbClr val="1B1B1B"/>
                </a:solidFill>
                <a:latin typeface="Calibri" panose="020F0502020204030204" pitchFamily="34" charset="0"/>
              </a:rPr>
              <a:t>ОД-103 от 06.03.2006 </a:t>
            </a:r>
            <a:r>
              <a:rPr lang="ru-RU" sz="14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«О </a:t>
            </a:r>
            <a:r>
              <a:rPr lang="ru-RU" sz="1400" dirty="0">
                <a:solidFill>
                  <a:srgbClr val="1B1B1B"/>
                </a:solidFill>
                <a:latin typeface="Calibri" panose="020F0502020204030204" pitchFamily="34" charset="0"/>
              </a:rPr>
              <a:t>вводе в действие </a:t>
            </a:r>
            <a:r>
              <a:rPr lang="ru-RU" sz="14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основных </a:t>
            </a:r>
            <a:r>
              <a:rPr lang="ru-RU" sz="1400" dirty="0">
                <a:solidFill>
                  <a:srgbClr val="1B1B1B"/>
                </a:solidFill>
                <a:latin typeface="Calibri" panose="020F0502020204030204" pitchFamily="34" charset="0"/>
              </a:rPr>
              <a:t>направлений политики информационной безопасности Банка России</a:t>
            </a:r>
            <a:r>
              <a:rPr lang="ru-RU" sz="14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»).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366" y="1841806"/>
            <a:ext cx="8711639" cy="44007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ru-RU" sz="1050" i="1" baseline="30000" dirty="0" smtClean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1 </a:t>
            </a:r>
            <a:r>
              <a:rPr lang="ru-RU" sz="1050" i="1" dirty="0" smtClean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Планируется предоставить доступ к информационным ресурсам Банка России сотрудникам полевых учреждений: сеть </a:t>
            </a:r>
            <a:r>
              <a:rPr lang="ru-RU" sz="1050" i="1" dirty="0" err="1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интранет</a:t>
            </a:r>
            <a:r>
              <a:rPr lang="ru-RU" sz="1050" i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, САДД, другие автоматизированные </a:t>
            </a:r>
            <a:r>
              <a:rPr lang="ru-RU" sz="1050" i="1" dirty="0" smtClean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системы (</a:t>
            </a:r>
            <a:r>
              <a:rPr lang="ru-RU" sz="1050" i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установив средства шифрования на каналы связи с переходом на современные телекоммуникационные </a:t>
            </a:r>
            <a:r>
              <a:rPr lang="ru-RU" sz="1050" i="1" dirty="0" smtClean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протоколы</a:t>
            </a:r>
            <a:r>
              <a:rPr lang="ru-RU" sz="1050" i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)</a:t>
            </a:r>
            <a:r>
              <a:rPr lang="ru-RU" sz="1050" i="1" dirty="0" smtClean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. По аналогии </a:t>
            </a:r>
            <a:r>
              <a:rPr lang="ru-RU" sz="1050" i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с </a:t>
            </a:r>
            <a:r>
              <a:rPr lang="ru-RU" sz="1050" i="1" dirty="0" smtClean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ресурсами, которые доступны всем </a:t>
            </a:r>
            <a:r>
              <a:rPr lang="ru-RU" sz="1050" i="1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</a:rPr>
              <a:t>сотрудникам Банка России в главных управлениях и территориальных учреждениях. </a:t>
            </a:r>
            <a:endParaRPr lang="ru-RU" sz="1050" i="1" cap="none" baseline="0" dirty="0" smtClean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166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>
                <a:solidFill>
                  <a:srgbClr val="1B1B1B"/>
                </a:solidFill>
                <a:latin typeface="Calibri" panose="020F0502020204030204" pitchFamily="34" charset="0"/>
              </a:rPr>
              <a:t>Приложение </a:t>
            </a:r>
            <a:r>
              <a:rPr lang="ru-RU" cap="all" dirty="0" smtClean="0">
                <a:solidFill>
                  <a:srgbClr val="1B1B1B"/>
                </a:solidFill>
                <a:latin typeface="Calibri" panose="020F0502020204030204" pitchFamily="34" charset="0"/>
              </a:rPr>
              <a:t>2 </a:t>
            </a:r>
            <a:r>
              <a:rPr lang="ru-RU" cap="all" dirty="0">
                <a:solidFill>
                  <a:srgbClr val="1B1B1B"/>
                </a:solidFill>
                <a:latin typeface="Calibri" panose="020F0502020204030204" pitchFamily="34" charset="0"/>
              </a:rPr>
              <a:t>– </a:t>
            </a:r>
            <a:r>
              <a:rPr lang="ru-RU" cap="all" dirty="0" smtClean="0">
                <a:solidFill>
                  <a:srgbClr val="1B1B1B"/>
                </a:solidFill>
                <a:latin typeface="Calibri" panose="020F0502020204030204" pitchFamily="34" charset="0"/>
              </a:rPr>
              <a:t>влияние проекта ДПУ-П-1 ПЕРЕХОД НА АС ВХД ВЕРСИИ 8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14</a:t>
            </a:fld>
            <a:endParaRPr lang="ru-RU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348356"/>
              </p:ext>
            </p:extLst>
          </p:nvPr>
        </p:nvGraphicFramePr>
        <p:xfrm>
          <a:off x="678299" y="3152896"/>
          <a:ext cx="4648711" cy="32754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9419"/>
                <a:gridCol w="2233321"/>
                <a:gridCol w="2155971"/>
              </a:tblGrid>
              <a:tr h="247941"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b="1" kern="1200" dirty="0" smtClean="0">
                        <a:solidFill>
                          <a:srgbClr val="1B1B1B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Наименование</a:t>
                      </a:r>
                      <a:endParaRPr lang="en-GB" sz="14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96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Times New Roman" panose="02020603050405020304" pitchFamily="18" charset="0"/>
                        </a:rPr>
                        <a:t>Комментарий</a:t>
                      </a:r>
                      <a:endParaRPr lang="en-GB" sz="1400" b="1" kern="1200" dirty="0" smtClean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 horzOverflow="overflow">
                    <a:solidFill>
                      <a:srgbClr val="2172B2"/>
                    </a:solidFill>
                  </a:tcPr>
                </a:tc>
              </a:tr>
              <a:tr h="152795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Статус</a:t>
                      </a:r>
                      <a:r>
                        <a:rPr lang="ru-RU" sz="1400" b="0" i="0" u="none" strike="noStrike" baseline="0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работ:</a:t>
                      </a:r>
                      <a:endParaRPr lang="ru-RU" sz="1400" b="0" i="0" u="none" strike="noStrike" dirty="0" smtClean="0">
                        <a:solidFill>
                          <a:srgbClr val="1B1B1B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ru-RU" sz="1400" b="0" i="0" u="none" strike="noStrike" dirty="0">
                        <a:solidFill>
                          <a:srgbClr val="1B1B1B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129105"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lvl="1"/>
                      <a:r>
                        <a:rPr lang="ru-RU" sz="140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завершено</a:t>
                      </a:r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64</a:t>
                      </a:r>
                      <a:endParaRPr lang="ru-RU" sz="1400" b="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</a:tr>
              <a:tr h="129105"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lvl="1"/>
                      <a:r>
                        <a:rPr lang="ru-RU" sz="140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в работе</a:t>
                      </a:r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12</a:t>
                      </a:r>
                      <a:endParaRPr lang="ru-RU" sz="1400" b="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</a:tr>
              <a:tr h="152795"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lvl="1"/>
                      <a:r>
                        <a:rPr lang="ru-RU" sz="140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планируется</a:t>
                      </a:r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ru-RU" sz="1400" b="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</a:tr>
              <a:tr h="180953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Выполнение работ: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endParaRPr lang="ru-RU" sz="1400" b="0" i="0" u="none" strike="noStrike" dirty="0" smtClean="0">
                        <a:solidFill>
                          <a:srgbClr val="1B1B1B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152795"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lvl="1" algn="l" fontAlgn="b"/>
                      <a:r>
                        <a:rPr lang="ru-RU" sz="14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подрядная организация</a:t>
                      </a:r>
                      <a:endParaRPr lang="ru-RU" sz="1400" b="0" i="0" u="none" strike="noStrike" dirty="0">
                        <a:solidFill>
                          <a:srgbClr val="1B1B1B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4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33</a:t>
                      </a:r>
                    </a:p>
                  </a:txBody>
                  <a:tcPr marL="8868" marR="8868" marT="8868" marB="0" anchor="ctr"/>
                </a:tc>
              </a:tr>
              <a:tr h="152795"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/>
                </a:tc>
                <a:tc>
                  <a:txBody>
                    <a:bodyPr/>
                    <a:lstStyle/>
                    <a:p>
                      <a:pPr lvl="1"/>
                      <a:r>
                        <a:rPr lang="ru-RU" sz="140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ГУ</a:t>
                      </a:r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</a:rPr>
                        <a:t>35</a:t>
                      </a:r>
                      <a:endParaRPr lang="ru-RU" sz="1400" b="0" dirty="0">
                        <a:solidFill>
                          <a:srgbClr val="1B1B1B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Бюджет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37 739</a:t>
                      </a:r>
                      <a:r>
                        <a:rPr lang="ru-RU" sz="1400" b="0" i="0" u="none" strike="noStrike" baseline="0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810 руб.</a:t>
                      </a:r>
                      <a:endParaRPr lang="ru-RU" sz="1400" b="0" i="0" u="none" strike="noStrike" dirty="0" smtClean="0">
                        <a:solidFill>
                          <a:srgbClr val="1B1B1B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Оставшийся бюджет</a:t>
                      </a: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5 574 900 руб.</a:t>
                      </a:r>
                    </a:p>
                  </a:txBody>
                  <a:tcPr marL="8868" marR="8868" marT="8868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>
                          <a:solidFill>
                            <a:srgbClr val="1B1B1B"/>
                          </a:solidFill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ru-RU" sz="1400" dirty="0">
                        <a:solidFill>
                          <a:srgbClr val="1B1B1B"/>
                        </a:solidFill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marL="0" marR="0" indent="0" algn="l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Дата завершения</a:t>
                      </a:r>
                      <a:r>
                        <a:rPr lang="ru-RU" sz="1400" b="0" i="0" u="none" strike="noStrike" baseline="0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работ</a:t>
                      </a:r>
                      <a:endParaRPr lang="ru-RU" sz="1400" b="0" i="0" u="none" strike="noStrike" dirty="0" smtClean="0">
                        <a:solidFill>
                          <a:srgbClr val="1B1B1B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68" marR="8868" marT="8868" marB="0" anchor="ctr"/>
                </a:tc>
                <a:tc>
                  <a:txBody>
                    <a:bodyPr/>
                    <a:lstStyle/>
                    <a:p>
                      <a:pPr marL="0" marR="0" indent="0" algn="r" defTabSz="63303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u="none" strike="noStrike" dirty="0" smtClean="0">
                          <a:solidFill>
                            <a:srgbClr val="1B1B1B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01.12.2016</a:t>
                      </a:r>
                    </a:p>
                  </a:txBody>
                  <a:tcPr marL="8868" marR="8868" marT="8868" marB="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78299" y="1125142"/>
            <a:ext cx="8004382" cy="617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В рамках проекта ДПУ-П-1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«Переход на АС ВХД 1С версии 8» 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предполагается переход </a:t>
            </a:r>
          </a:p>
          <a:p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83-х полевых учреждений на 1С версию 8 (с 1С версии 7). </a:t>
            </a:r>
          </a:p>
          <a:p>
            <a:endParaRPr lang="ru-RU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В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случае 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централизации с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организацией удаленных рабочих 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мест по средствам МРТД (вариант 1), 1С версии 8 останется в ЦА (1 шт.), ГУ (7 шт.), БПУ (4 шт.), остальные базы будут отключены.</a:t>
            </a:r>
          </a:p>
          <a:p>
            <a:endParaRPr lang="ru-RU" sz="1600" dirty="0" smtClean="0">
              <a:solidFill>
                <a:srgbClr val="1B1B1B"/>
              </a:solidFill>
              <a:latin typeface="Calibri" panose="020F0502020204030204" pitchFamily="34" charset="0"/>
            </a:endParaRPr>
          </a:p>
          <a:p>
            <a:r>
              <a:rPr lang="ru-RU" sz="16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Текущий статус проекта </a:t>
            </a:r>
            <a:r>
              <a:rPr lang="ru-RU" sz="1600" dirty="0">
                <a:solidFill>
                  <a:srgbClr val="000000"/>
                </a:solidFill>
                <a:latin typeface="Calibri" panose="020F0502020204030204" pitchFamily="34" charset="0"/>
              </a:rPr>
              <a:t>ДПУ-П-1 «Переход на АС ВХД 1С версии 8</a:t>
            </a:r>
            <a:r>
              <a:rPr lang="ru-RU" sz="16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» ниже</a:t>
            </a:r>
            <a:r>
              <a:rPr lang="ru-RU" sz="1600" dirty="0" smtClean="0">
                <a:solidFill>
                  <a:srgbClr val="1B1B1B"/>
                </a:solidFill>
                <a:latin typeface="Calibri" panose="020F0502020204030204" pitchFamily="34" charset="0"/>
              </a:rPr>
              <a:t>:</a:t>
            </a:r>
            <a:endParaRPr lang="en-US" sz="1600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424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all" dirty="0">
                <a:solidFill>
                  <a:srgbClr val="1B1B1B"/>
                </a:solidFill>
                <a:latin typeface="Calibri" panose="020F0502020204030204" pitchFamily="34" charset="0"/>
              </a:rPr>
              <a:t>Приложение 3</a:t>
            </a:r>
            <a:r>
              <a:rPr lang="ru-RU" cap="all" dirty="0" smtClean="0">
                <a:solidFill>
                  <a:srgbClr val="1B1B1B"/>
                </a:solidFill>
                <a:latin typeface="Calibri" panose="020F0502020204030204" pitchFamily="34" charset="0"/>
              </a:rPr>
              <a:t> </a:t>
            </a:r>
            <a:r>
              <a:rPr lang="ru-RU" cap="all" dirty="0">
                <a:solidFill>
                  <a:srgbClr val="1B1B1B"/>
                </a:solidFill>
                <a:latin typeface="Calibri" panose="020F0502020204030204" pitchFamily="34" charset="0"/>
              </a:rPr>
              <a:t>– </a:t>
            </a:r>
            <a:r>
              <a:rPr lang="ru-RU" cap="all" dirty="0" smtClean="0">
                <a:solidFill>
                  <a:srgbClr val="1B1B1B"/>
                </a:solidFill>
                <a:latin typeface="Calibri" panose="020F0502020204030204" pitchFamily="34" charset="0"/>
              </a:rPr>
              <a:t>глоссарий</a:t>
            </a:r>
            <a:endParaRPr lang="ru-RU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03043-0BCD-43EE-9F6F-644330271C81}" type="slidenum">
              <a:rPr lang="ru-RU" smtClean="0"/>
              <a:pPr/>
              <a:t>15</a:t>
            </a:fld>
            <a:endParaRPr lang="ru-RU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376935"/>
              </p:ext>
            </p:extLst>
          </p:nvPr>
        </p:nvGraphicFramePr>
        <p:xfrm>
          <a:off x="800100" y="1363366"/>
          <a:ext cx="7230633" cy="4872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595"/>
                <a:gridCol w="181233"/>
                <a:gridCol w="6227805"/>
              </a:tblGrid>
              <a:tr h="15173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АС БУ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автоматизированная </a:t>
                      </a:r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система бухгалтерского учета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173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АС ВХД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автоматизированная система "Внутрихозяйственная деятельность"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173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АС ППС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автоматизированная система "Перспективная платежная система"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БПУ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полевые управления с балансом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ВБИ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внутренняя </a:t>
                      </a:r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банковская </a:t>
                      </a:r>
                      <a:r>
                        <a:rPr lang="ru-RU" sz="14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информация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ГУ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главное управление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ДБУиО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</a:t>
                      </a:r>
                      <a:r>
                        <a:rPr lang="ru-RU" sz="14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епартамент </a:t>
                      </a:r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бухгалтерского учета и отчетности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ДПУ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</a:t>
                      </a:r>
                      <a:r>
                        <a:rPr lang="ru-RU" sz="14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епартамент </a:t>
                      </a:r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полевых учреждений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ЕТКБС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единая телекоммуникационная</a:t>
                      </a:r>
                      <a:r>
                        <a:rPr lang="ru-RU" sz="14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банковская система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ИОД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информация ограниченного доступа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КТС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комплекс </a:t>
                      </a:r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технических средств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ЛВС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локальная вычислительная сеть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МРТД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межрегиональный терминальный доступ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ОИТУ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обработка информации территориального учреждения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ОПУ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полевые управления без баланса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ПСИ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приемо-сдаточные испытания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ПУ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полевые учреждения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5173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РАБИС-НП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региональная автоматизированная банковская информационная система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САБС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специализированная </a:t>
                      </a:r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автоматизированная банковская </a:t>
                      </a:r>
                      <a:r>
                        <a:rPr lang="ru-RU" sz="14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система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СКЗИ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средства криптографической защиты информации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ТУ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территориальное </a:t>
                      </a:r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управление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98405"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ЭС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40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электронное сообщение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136" marR="8136" marT="8136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606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1_CBR_Lavanda_A4">
  <a:themeElements>
    <a:clrScheme name="CBRF new">
      <a:dk1>
        <a:srgbClr val="8A8A8D"/>
      </a:dk1>
      <a:lt1>
        <a:sysClr val="window" lastClr="FFFFFF"/>
      </a:lt1>
      <a:dk2>
        <a:srgbClr val="B9B8BA"/>
      </a:dk2>
      <a:lt2>
        <a:srgbClr val="E7E6E6"/>
      </a:lt2>
      <a:accent1>
        <a:srgbClr val="77777A"/>
      </a:accent1>
      <a:accent2>
        <a:srgbClr val="3E96DB"/>
      </a:accent2>
      <a:accent3>
        <a:srgbClr val="A89B9D"/>
      </a:accent3>
      <a:accent4>
        <a:srgbClr val="8586C6"/>
      </a:accent4>
      <a:accent5>
        <a:srgbClr val="B46E28"/>
      </a:accent5>
      <a:accent6>
        <a:srgbClr val="AB5253"/>
      </a:accent6>
      <a:hlink>
        <a:srgbClr val="77777A"/>
      </a:hlink>
      <a:folHlink>
        <a:srgbClr val="77777A"/>
      </a:folHlink>
    </a:clrScheme>
    <a:fontScheme name="Классическая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 anchor="t" anchorCtr="0">
        <a:noAutofit/>
      </a:bodyPr>
      <a:lstStyle>
        <a:defPPr algn="l">
          <a:lnSpc>
            <a:spcPct val="90000"/>
          </a:lnSpc>
          <a:defRPr sz="2000" cap="none" baseline="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BR_Lavanda_A4" id="{8E00CC05-4A5E-44B2-818E-BDCA5D630702}" vid="{F61CBFDD-A1E5-4FCD-9F42-502DF624FC7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69693</TotalTime>
  <Words>2475</Words>
  <Application>Microsoft Office PowerPoint</Application>
  <PresentationFormat>Экран (4:3)</PresentationFormat>
  <Paragraphs>674</Paragraphs>
  <Slides>15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Arial (Основной текст)</vt:lpstr>
      <vt:lpstr>Calibri</vt:lpstr>
      <vt:lpstr>Times New Roman</vt:lpstr>
      <vt:lpstr>1_CBR_Lavanda_A4</vt:lpstr>
      <vt:lpstr>Презентация PowerPoint</vt:lpstr>
      <vt:lpstr>СОДЕРЖАНИЕ</vt:lpstr>
      <vt:lpstr>ДОРОЖНЫЕ КАРТЫ ПРОЕКТОВ: АС ППС, АС БУ, ЦЕНТРАЛИЗАЦИЯ ПУ (по состоянию на 19.08.2016)</vt:lpstr>
      <vt:lpstr>ВЫБОР ВАРИАНТА ФОРМИРОВАНИЯ БАЛАНСА </vt:lpstr>
      <vt:lpstr>ВЫБОР ВАРИАНТА ФОРМИРОВАНИЯ БАЛАНСА  ВАРИАНТ 1 - ФОРМИРОВАНИЕ БАЛАНСА В РАБИС-НП</vt:lpstr>
      <vt:lpstr>ВЫБОР ВАРИАНТА ФОРМИРОВАНИЯ БАЛАНСА ВАРИАНТ 2 - ФОРМИРОВАНИЕ БАЛАНСА В ТПК САБС В БПУ</vt:lpstr>
      <vt:lpstr>ВЫБОР ВАРИАНТА ФОРМИРОВАНИЯ БАЛАНСА ВАРИАНТ 3 - ФОРМИРОВАНИЕ БАЛАНСА В АС БУ</vt:lpstr>
      <vt:lpstr>ВЫБОР ВАРИАНТА ФОРМИРОВАНИЯ БАЛАНСА ПРЕДЛОЖЕНИЕ: ФОРМИРОВАНИЕ БАЛАНСА В АС БУ</vt:lpstr>
      <vt:lpstr>ВЫБОР ВАРИАНТА ЦЕНТРАЛИЗАЦИИ АС ВХД ВАРИАНТ 1 - С ОРГАНИЗАЦИЕЙ УДАЛЕННЫХ РАБОЧИХ МЕСТ В ОПУ</vt:lpstr>
      <vt:lpstr>ВЫБОР ВАРИАНТА ЦЕНТРАЛИЗАЦИИ АС ВХД ВАРИАНТ 2 - С ЛОКАЛЬНЫМИ АС ВХД И ОРГАНИЗАЦИЕЙ СИНХРОНИЗАЦИИ ДАННЫХ</vt:lpstr>
      <vt:lpstr>ВЫБОР ВАРИАНТА ЦЕНТРАЛИЗАЦИИ АС ВХД  ПРЕДЛОЖЕНИЕ: ЦЕНТРАЛИЗАЦИЯ С ОРГАНИЗАЦИЕЙ РАБОЧИХ МЕСТ В ОПУ</vt:lpstr>
      <vt:lpstr>ПРЕДЛОЖЕНИЕ</vt:lpstr>
      <vt:lpstr>Приложение 1 - Схема организации связи ПУ по защищенным каналам связи</vt:lpstr>
      <vt:lpstr>Приложение 2 – влияние проекта ДПУ-П-1 ПЕРЕХОД НА АС ВХД ВЕРСИИ 8</vt:lpstr>
      <vt:lpstr>Приложение 3 – глоссарий</vt:lpstr>
    </vt:vector>
  </TitlesOfParts>
  <Company>Central Bank of Russian Federation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Центральный Банк Российской Федерации Банк России</dc:title>
  <dc:subject>Комитет по проектам и технологиям Банка России #1</dc:subject>
  <dc:creator>Симонян Д.А.</dc:creator>
  <cp:lastModifiedBy>Абрамович Сергей Юрьевич</cp:lastModifiedBy>
  <cp:revision>2931</cp:revision>
  <cp:lastPrinted>2016-08-12T09:43:48Z</cp:lastPrinted>
  <dcterms:created xsi:type="dcterms:W3CDTF">2014-05-28T08:38:05Z</dcterms:created>
  <dcterms:modified xsi:type="dcterms:W3CDTF">2016-08-22T06:26:05Z</dcterms:modified>
</cp:coreProperties>
</file>